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50"/>
  </p:notesMasterIdLst>
  <p:sldIdLst>
    <p:sldId id="273" r:id="rId2"/>
    <p:sldId id="362" r:id="rId3"/>
    <p:sldId id="364" r:id="rId4"/>
    <p:sldId id="363" r:id="rId5"/>
    <p:sldId id="271" r:id="rId6"/>
    <p:sldId id="367" r:id="rId7"/>
    <p:sldId id="365" r:id="rId8"/>
    <p:sldId id="339" r:id="rId9"/>
    <p:sldId id="276" r:id="rId10"/>
    <p:sldId id="305" r:id="rId11"/>
    <p:sldId id="340" r:id="rId12"/>
    <p:sldId id="295" r:id="rId13"/>
    <p:sldId id="338" r:id="rId14"/>
    <p:sldId id="291" r:id="rId15"/>
    <p:sldId id="307" r:id="rId16"/>
    <p:sldId id="341" r:id="rId17"/>
    <p:sldId id="342" r:id="rId18"/>
    <p:sldId id="343" r:id="rId19"/>
    <p:sldId id="344" r:id="rId20"/>
    <p:sldId id="345" r:id="rId21"/>
    <p:sldId id="366" r:id="rId22"/>
    <p:sldId id="308" r:id="rId23"/>
    <p:sldId id="346" r:id="rId24"/>
    <p:sldId id="348" r:id="rId25"/>
    <p:sldId id="373" r:id="rId26"/>
    <p:sldId id="374" r:id="rId27"/>
    <p:sldId id="375" r:id="rId28"/>
    <p:sldId id="376" r:id="rId29"/>
    <p:sldId id="377" r:id="rId30"/>
    <p:sldId id="378" r:id="rId31"/>
    <p:sldId id="352" r:id="rId32"/>
    <p:sldId id="354" r:id="rId33"/>
    <p:sldId id="355" r:id="rId34"/>
    <p:sldId id="347" r:id="rId35"/>
    <p:sldId id="350" r:id="rId36"/>
    <p:sldId id="371" r:id="rId37"/>
    <p:sldId id="372" r:id="rId38"/>
    <p:sldId id="351" r:id="rId39"/>
    <p:sldId id="353" r:id="rId40"/>
    <p:sldId id="369" r:id="rId41"/>
    <p:sldId id="370" r:id="rId42"/>
    <p:sldId id="358" r:id="rId43"/>
    <p:sldId id="359" r:id="rId44"/>
    <p:sldId id="360" r:id="rId45"/>
    <p:sldId id="368" r:id="rId46"/>
    <p:sldId id="361" r:id="rId47"/>
    <p:sldId id="280" r:id="rId48"/>
    <p:sldId id="357"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3C7BCF-2F0A-415A-BC10-57D2C2A1982B}" v="15" dt="2026-03-03T16:04:54.340"/>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294" autoAdjust="0"/>
    <p:restoredTop sz="93842" autoAdjust="0"/>
  </p:normalViewPr>
  <p:slideViewPr>
    <p:cSldViewPr snapToGrid="0">
      <p:cViewPr varScale="1">
        <p:scale>
          <a:sx n="71" d="100"/>
          <a:sy n="71" d="100"/>
        </p:scale>
        <p:origin x="480"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890"/>
    </p:cViewPr>
  </p:sorterViewPr>
  <p:notesViewPr>
    <p:cSldViewPr snapToGrid="0">
      <p:cViewPr varScale="1">
        <p:scale>
          <a:sx n="49" d="100"/>
          <a:sy n="49" d="100"/>
        </p:scale>
        <p:origin x="2668" y="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806D3D-FFE8-4868-A587-1FFB03C58617}" type="datetimeFigureOut">
              <a:rPr lang="en-IN" smtClean="0"/>
              <a:t>25-04-2026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7D666-FF51-48C0-AA80-7B06E5983D29}" type="slidenum">
              <a:rPr lang="en-IN" smtClean="0"/>
              <a:t>‹#›</a:t>
            </a:fld>
            <a:endParaRPr lang="en-IN"/>
          </a:p>
        </p:txBody>
      </p:sp>
    </p:spTree>
    <p:extLst>
      <p:ext uri="{BB962C8B-B14F-4D97-AF65-F5344CB8AC3E}">
        <p14:creationId xmlns:p14="http://schemas.microsoft.com/office/powerpoint/2010/main" val="382180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F7D666-FF51-48C0-AA80-7B06E5983D29}" type="slidenum">
              <a:rPr lang="en-IN" smtClean="0"/>
              <a:t>9</a:t>
            </a:fld>
            <a:endParaRPr lang="en-IN"/>
          </a:p>
        </p:txBody>
      </p:sp>
    </p:spTree>
    <p:extLst>
      <p:ext uri="{BB962C8B-B14F-4D97-AF65-F5344CB8AC3E}">
        <p14:creationId xmlns:p14="http://schemas.microsoft.com/office/powerpoint/2010/main" val="2879683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F7D666-FF51-48C0-AA80-7B06E5983D29}" type="slidenum">
              <a:rPr lang="en-IN" smtClean="0"/>
              <a:t>12</a:t>
            </a:fld>
            <a:endParaRPr lang="en-IN"/>
          </a:p>
        </p:txBody>
      </p:sp>
    </p:spTree>
    <p:extLst>
      <p:ext uri="{BB962C8B-B14F-4D97-AF65-F5344CB8AC3E}">
        <p14:creationId xmlns:p14="http://schemas.microsoft.com/office/powerpoint/2010/main" val="3203468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B04FA7-0699-4E4A-AC79-9317979322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6290EE0B-65F3-41F6-A097-93006D1A52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88E9CD08-FDA4-47D4-B0FB-E5BB5B05714E}"/>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5" name="Footer Placeholder 4">
            <a:extLst>
              <a:ext uri="{FF2B5EF4-FFF2-40B4-BE49-F238E27FC236}">
                <a16:creationId xmlns:a16="http://schemas.microsoft.com/office/drawing/2014/main" xmlns="" id="{799D5940-912E-4AFE-85D7-81425B376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F3739FA-3612-48F7-8515-88DD79527EA5}"/>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3656583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93EEBA-B5BE-4100-A852-F859277E1E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84A2FC6-844E-4702-8E8D-5909C086C2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F08E0FD-5D16-4C7B-8F6E-D2924831025E}"/>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5" name="Footer Placeholder 4">
            <a:extLst>
              <a:ext uri="{FF2B5EF4-FFF2-40B4-BE49-F238E27FC236}">
                <a16:creationId xmlns:a16="http://schemas.microsoft.com/office/drawing/2014/main" xmlns="" id="{03BB930B-E1F2-4965-9255-2A836F7C41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7274E07-9C6F-4479-B201-398652BBD075}"/>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341468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FE4BCE-080F-4F26-A0EE-D026D5993A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10C654E-3972-4E90-8E54-4A72E360E5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231DA1A-0AEA-4E05-B461-BC22FBCA4856}"/>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5" name="Footer Placeholder 4">
            <a:extLst>
              <a:ext uri="{FF2B5EF4-FFF2-40B4-BE49-F238E27FC236}">
                <a16:creationId xmlns:a16="http://schemas.microsoft.com/office/drawing/2014/main" xmlns="" id="{5CEF29B8-4CBD-450A-9BD9-F2114D7C0D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987DF6A-DAD7-4AB0-B93D-69810FD61587}"/>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314452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10CD13-2FBF-424C-91C4-AA885A6794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15585C3-0811-4840-9D5E-C6E8285C8E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EED696A4-3C7E-494E-B9C9-655D19D30F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7CFA16E9-71BB-483B-A291-548C8F6DA9EF}"/>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6" name="Footer Placeholder 5">
            <a:extLst>
              <a:ext uri="{FF2B5EF4-FFF2-40B4-BE49-F238E27FC236}">
                <a16:creationId xmlns:a16="http://schemas.microsoft.com/office/drawing/2014/main" xmlns="" id="{3DCDC30C-CE34-4E18-89CD-8B576CBAF7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1DF8D84-A2F1-48D5-A76F-1D3693C0EA4C}"/>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2249384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E69793-6553-4B72-A9B0-C860A8CF82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BBA487A-0C62-4A86-8DDE-6D33DDC6E4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7906B5A-2E9C-4A43-B52D-F1825A4D81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82F7E6D3-FA51-4613-B0F9-5149479A24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BBBFE22-7D3C-4C75-93DF-B1AEA3290F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56263918-829C-482D-A4EA-724C72A83708}"/>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8" name="Footer Placeholder 7">
            <a:extLst>
              <a:ext uri="{FF2B5EF4-FFF2-40B4-BE49-F238E27FC236}">
                <a16:creationId xmlns:a16="http://schemas.microsoft.com/office/drawing/2014/main" xmlns="" id="{34AA5535-6654-4A66-AAAC-74F0BF383EB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B6D79B99-F1DF-480A-9D90-B9380DD04A4E}"/>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235460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31339F-6AD0-4625-97ED-9BEFF59415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7493F17A-6E50-4A55-81FC-B25AF873E1B5}"/>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4" name="Footer Placeholder 3">
            <a:extLst>
              <a:ext uri="{FF2B5EF4-FFF2-40B4-BE49-F238E27FC236}">
                <a16:creationId xmlns:a16="http://schemas.microsoft.com/office/drawing/2014/main" xmlns="" id="{4B6C34F0-A7FF-4786-AAA3-A0AA3DD171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A9054A53-C112-41CE-81DA-ACA47CF4D118}"/>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1723849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CE5ADA1-8B4D-47C9-BF1C-6E2489C109CE}"/>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3" name="Footer Placeholder 2">
            <a:extLst>
              <a:ext uri="{FF2B5EF4-FFF2-40B4-BE49-F238E27FC236}">
                <a16:creationId xmlns:a16="http://schemas.microsoft.com/office/drawing/2014/main" xmlns="" id="{74E1C898-59F5-47DE-A78D-1A012220A9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0650ED75-058A-4C57-B602-9A5FF9C0BB65}"/>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4292347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33B0E8-F25E-4847-B645-FF6B273DD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627EB4A-773B-418C-A5BC-5B09D02174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39DBA99A-C246-4B62-9B8D-4CFA826F35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41A07AD-0C08-4A54-8A65-54FE0E315332}"/>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6" name="Footer Placeholder 5">
            <a:extLst>
              <a:ext uri="{FF2B5EF4-FFF2-40B4-BE49-F238E27FC236}">
                <a16:creationId xmlns:a16="http://schemas.microsoft.com/office/drawing/2014/main" xmlns="" id="{BF1B662A-8C22-4BF0-B52D-65059C3C4C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C5D8343-8343-4B94-B7A1-8C5E852CFE34}"/>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2337066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969178-9229-4C97-8F4F-0EA7E99936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71AD5DFD-48B9-42FD-955D-F32CA8FD18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xmlns="" id="{A2C8D396-213D-44DA-A944-C4EDC59BC7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C90248B-9B08-4769-B8CB-FF067D703879}"/>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6" name="Footer Placeholder 5">
            <a:extLst>
              <a:ext uri="{FF2B5EF4-FFF2-40B4-BE49-F238E27FC236}">
                <a16:creationId xmlns:a16="http://schemas.microsoft.com/office/drawing/2014/main" xmlns="" id="{C39D6A23-4330-4EC7-BEA2-C6D9345930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690D56D-2A15-4B5B-9261-DEEBF585272A}"/>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758427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84E2BE-7919-4EFD-9A57-6EE26CFEE6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10387086-C9F9-484A-835B-477B1848C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405BFC8-1F41-43DB-B2CE-DF585B3F6E4E}"/>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5" name="Footer Placeholder 4">
            <a:extLst>
              <a:ext uri="{FF2B5EF4-FFF2-40B4-BE49-F238E27FC236}">
                <a16:creationId xmlns:a16="http://schemas.microsoft.com/office/drawing/2014/main" xmlns="" id="{D2719103-86A2-4897-B4B7-064541DE1D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6C9C14A-D060-4A2E-848E-FAFD2803E36B}"/>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3821701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D2E5396-FFDA-4FCA-9A8B-275207C897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A6199EA-D656-452C-9C7D-7B2AD584F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892F4E6-F037-4AD2-B317-861255762120}"/>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5" name="Footer Placeholder 4">
            <a:extLst>
              <a:ext uri="{FF2B5EF4-FFF2-40B4-BE49-F238E27FC236}">
                <a16:creationId xmlns:a16="http://schemas.microsoft.com/office/drawing/2014/main" xmlns="" id="{0E0DB74C-5835-4C7C-9CDA-9FD948B5F0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A6E58B2-2C59-41C6-A7A9-1B8E9844FD98}"/>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2320222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0393F7-BFE4-41E4-87DE-08A695627A3F}"/>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759B47A-1C31-470D-88FC-7E428A7A71B2}"/>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7E9473E-5D19-42A2-AF99-FDEEC6325029}"/>
              </a:ext>
            </a:extLst>
          </p:cNvPr>
          <p:cNvSpPr>
            <a:spLocks noGrp="1"/>
          </p:cNvSpPr>
          <p:nvPr>
            <p:ph type="dt" sz="half" idx="10"/>
          </p:nvPr>
        </p:nvSpPr>
        <p:spPr/>
        <p:txBody>
          <a:bodyPr/>
          <a:lstStyle/>
          <a:p>
            <a:fld id="{CC6374A2-4CFE-400B-B0E8-341531FCBF09}" type="datetimeFigureOut">
              <a:rPr lang="en-IN" smtClean="0"/>
              <a:t>25-04-2026</a:t>
            </a:fld>
            <a:endParaRPr lang="en-IN"/>
          </a:p>
        </p:txBody>
      </p:sp>
      <p:sp>
        <p:nvSpPr>
          <p:cNvPr id="5" name="Footer Placeholder 4">
            <a:extLst>
              <a:ext uri="{FF2B5EF4-FFF2-40B4-BE49-F238E27FC236}">
                <a16:creationId xmlns:a16="http://schemas.microsoft.com/office/drawing/2014/main" xmlns="" id="{655713D3-E9F9-4B5B-B622-768504BE36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D5A7E4F-5B48-4421-A7A6-15C8C23E96D3}"/>
              </a:ext>
            </a:extLst>
          </p:cNvPr>
          <p:cNvSpPr>
            <a:spLocks noGrp="1"/>
          </p:cNvSpPr>
          <p:nvPr>
            <p:ph type="sldNum" sz="quarter" idx="12"/>
          </p:nvPr>
        </p:nvSpPr>
        <p:spPr/>
        <p:txBody>
          <a:bodyPr/>
          <a:lstStyle/>
          <a:p>
            <a:fld id="{662A6FC2-D935-442A-AFEB-E0E01A315713}" type="slidenum">
              <a:rPr lang="en-IN" smtClean="0"/>
              <a:t>‹#›</a:t>
            </a:fld>
            <a:endParaRPr lang="en-IN"/>
          </a:p>
        </p:txBody>
      </p:sp>
    </p:spTree>
    <p:extLst>
      <p:ext uri="{BB962C8B-B14F-4D97-AF65-F5344CB8AC3E}">
        <p14:creationId xmlns:p14="http://schemas.microsoft.com/office/powerpoint/2010/main" val="3856227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5FA647C-03DF-4870-979C-09B614B88E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F7F0F19-DE0B-47EE-A18C-C1BC8CA7F0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46950E8-F8A1-4156-B4BF-896D8DE336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6374A2-4CFE-400B-B0E8-341531FCBF09}" type="datetimeFigureOut">
              <a:rPr lang="en-IN" smtClean="0"/>
              <a:t>25-04-2026</a:t>
            </a:fld>
            <a:endParaRPr lang="en-IN"/>
          </a:p>
        </p:txBody>
      </p:sp>
      <p:sp>
        <p:nvSpPr>
          <p:cNvPr id="5" name="Footer Placeholder 4">
            <a:extLst>
              <a:ext uri="{FF2B5EF4-FFF2-40B4-BE49-F238E27FC236}">
                <a16:creationId xmlns:a16="http://schemas.microsoft.com/office/drawing/2014/main" xmlns="" id="{FB128664-B958-4C4E-96CC-441D373132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0DCD949-D866-4BEA-9F85-A5B43CF19B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A6FC2-D935-442A-AFEB-E0E01A315713}" type="slidenum">
              <a:rPr lang="en-IN" smtClean="0"/>
              <a:t>‹#›</a:t>
            </a:fld>
            <a:endParaRPr lang="en-IN"/>
          </a:p>
        </p:txBody>
      </p:sp>
    </p:spTree>
    <p:extLst>
      <p:ext uri="{BB962C8B-B14F-4D97-AF65-F5344CB8AC3E}">
        <p14:creationId xmlns:p14="http://schemas.microsoft.com/office/powerpoint/2010/main" val="469874085"/>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AFF492B-5661-15B9-ACD6-6D7A64446579}"/>
              </a:ext>
            </a:extLst>
          </p:cNvPr>
          <p:cNvSpPr txBox="1"/>
          <p:nvPr/>
        </p:nvSpPr>
        <p:spPr>
          <a:xfrm>
            <a:off x="0" y="0"/>
            <a:ext cx="12192000" cy="689419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Samarth Rural Educational Institute</a:t>
            </a:r>
            <a:endParaRPr lang="en-US" sz="28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SAMARTH COLLEGE OF ENGINEERING </a:t>
            </a:r>
          </a:p>
          <a:p>
            <a:pPr algn="ctr"/>
            <a:r>
              <a:rPr lang="en-US" sz="2400" b="1" dirty="0">
                <a:latin typeface="Times New Roman" panose="02020603050405020304" pitchFamily="18" charset="0"/>
                <a:cs typeface="Times New Roman" panose="02020603050405020304" pitchFamily="18" charset="0"/>
              </a:rPr>
              <a:t>&amp; MANAGEMENT, BELHE </a:t>
            </a:r>
          </a:p>
          <a:p>
            <a:endParaRPr lang="en-US" sz="1600" b="1" dirty="0">
              <a:latin typeface="Times New Roman" panose="02020603050405020304" pitchFamily="18" charset="0"/>
              <a:cs typeface="Times New Roman" panose="02020603050405020304" pitchFamily="18" charset="0"/>
            </a:endParaRPr>
          </a:p>
          <a:p>
            <a:pPr marL="0" indent="0" algn="ctr">
              <a:buNone/>
            </a:pPr>
            <a:endParaRPr lang="en-US" sz="2400" b="1" dirty="0">
              <a:solidFill>
                <a:srgbClr val="002060"/>
              </a:solidFill>
              <a:latin typeface="Times New Roman" panose="02020603050405020304" pitchFamily="18" charset="0"/>
              <a:cs typeface="Times New Roman" panose="02020603050405020304" pitchFamily="18" charset="0"/>
            </a:endParaRPr>
          </a:p>
          <a:p>
            <a:pPr marL="0" indent="0" algn="ctr">
              <a:buNone/>
            </a:pPr>
            <a:endParaRPr lang="en-US" sz="1600" b="1" dirty="0">
              <a:solidFill>
                <a:srgbClr val="002060"/>
              </a:solidFill>
              <a:latin typeface="Times New Roman" panose="02020603050405020304" pitchFamily="18" charset="0"/>
              <a:cs typeface="Times New Roman" panose="02020603050405020304" pitchFamily="18" charset="0"/>
            </a:endParaRPr>
          </a:p>
          <a:p>
            <a:pPr marL="0" indent="0" algn="ctr">
              <a:buNone/>
            </a:pPr>
            <a:endParaRPr lang="en-US" sz="2400" b="1" dirty="0">
              <a:solidFill>
                <a:srgbClr val="002060"/>
              </a:solidFill>
              <a:latin typeface="Times New Roman" panose="02020603050405020304" pitchFamily="18" charset="0"/>
              <a:cs typeface="Times New Roman" panose="02020603050405020304" pitchFamily="18" charset="0"/>
            </a:endParaRPr>
          </a:p>
          <a:p>
            <a:pPr marL="0" indent="0" algn="ctr">
              <a:buNone/>
            </a:pPr>
            <a:endParaRPr lang="en-US" sz="2400" b="1" dirty="0">
              <a:solidFill>
                <a:srgbClr val="002060"/>
              </a:solidFill>
              <a:latin typeface="Times New Roman" panose="02020603050405020304" pitchFamily="18" charset="0"/>
              <a:cs typeface="Times New Roman" panose="02020603050405020304" pitchFamily="18" charset="0"/>
            </a:endParaRPr>
          </a:p>
          <a:p>
            <a:pPr marL="0" indent="0" algn="ctr">
              <a:buNone/>
            </a:pPr>
            <a:r>
              <a:rPr lang="en-US" sz="2400" b="1" dirty="0">
                <a:solidFill>
                  <a:srgbClr val="002060"/>
                </a:solidFill>
                <a:latin typeface="Times New Roman" panose="02020603050405020304" pitchFamily="18" charset="0"/>
                <a:cs typeface="Times New Roman" panose="02020603050405020304" pitchFamily="18" charset="0"/>
              </a:rPr>
              <a:t>A Project Stage-II</a:t>
            </a:r>
          </a:p>
          <a:p>
            <a:pPr marL="0" indent="0" algn="ctr">
              <a:buNone/>
            </a:pPr>
            <a:r>
              <a:rPr lang="en-US" sz="2400" b="1" dirty="0">
                <a:solidFill>
                  <a:srgbClr val="002060"/>
                </a:solidFill>
                <a:latin typeface="Times New Roman" panose="02020603050405020304" pitchFamily="18" charset="0"/>
                <a:cs typeface="Times New Roman" panose="02020603050405020304" pitchFamily="18" charset="0"/>
              </a:rPr>
              <a:t> Presentation On</a:t>
            </a:r>
          </a:p>
          <a:p>
            <a:pPr algn="ctr"/>
            <a:r>
              <a:rPr lang="en-US" sz="2400" b="1" dirty="0">
                <a:solidFill>
                  <a:srgbClr val="002060"/>
                </a:solidFill>
                <a:latin typeface="Times New Roman" panose="02020603050405020304" pitchFamily="18" charset="0"/>
                <a:cs typeface="Times New Roman" panose="02020603050405020304" pitchFamily="18" charset="0"/>
              </a:rPr>
              <a:t> </a:t>
            </a:r>
            <a:endParaRPr lang="en-US" sz="2800" b="1" dirty="0"/>
          </a:p>
          <a:p>
            <a:pPr algn="ctr"/>
            <a:r>
              <a:rPr lang="en-US" sz="2400" b="1" dirty="0" smtClean="0">
                <a:solidFill>
                  <a:srgbClr val="000000"/>
                </a:solidFill>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NoteHub: Intelligent Platform for Student Knowledge </a:t>
            </a:r>
            <a:r>
              <a:rPr lang="en-US" sz="2400" b="1" dirty="0" smtClean="0">
                <a:latin typeface="Times New Roman" panose="02020603050405020304" pitchFamily="18" charset="0"/>
                <a:cs typeface="Times New Roman" panose="02020603050405020304" pitchFamily="18" charset="0"/>
              </a:rPr>
              <a:t>Sharing</a:t>
            </a:r>
            <a:r>
              <a:rPr lang="en-US" sz="2400" b="1" dirty="0" smtClean="0">
                <a:solidFill>
                  <a:srgbClr val="000000"/>
                </a:solidFill>
                <a:latin typeface="Times New Roman" panose="02020603050405020304" pitchFamily="18" charset="0"/>
                <a:cs typeface="Times New Roman" panose="02020603050405020304" pitchFamily="18" charset="0"/>
              </a:rPr>
              <a:t>”</a:t>
            </a:r>
            <a:endParaRPr lang="en-US" sz="2400" b="1" dirty="0">
              <a:solidFill>
                <a:srgbClr val="000000"/>
              </a:solidFill>
              <a:latin typeface="Times New Roman" panose="02020603050405020304" pitchFamily="18" charset="0"/>
              <a:cs typeface="Times New Roman" panose="02020603050405020304" pitchFamily="18" charset="0"/>
            </a:endParaRPr>
          </a:p>
          <a:p>
            <a:pPr algn="ctr"/>
            <a:endParaRPr lang="en-US" sz="1000" b="1" dirty="0">
              <a:solidFill>
                <a:srgbClr val="002060"/>
              </a:solidFill>
              <a:latin typeface="Times New Roman" panose="02020603050405020304" pitchFamily="18" charset="0"/>
              <a:cs typeface="Times New Roman" panose="02020603050405020304" pitchFamily="18" charset="0"/>
            </a:endParaRPr>
          </a:p>
          <a:p>
            <a:pPr marL="0" indent="0" algn="ctr">
              <a:buNone/>
            </a:pPr>
            <a:r>
              <a:rPr lang="en-US" sz="1600" b="1" dirty="0">
                <a:solidFill>
                  <a:srgbClr val="002060"/>
                </a:solidFill>
                <a:latin typeface="Times New Roman" panose="02020603050405020304" pitchFamily="18" charset="0"/>
                <a:cs typeface="Times New Roman" panose="02020603050405020304" pitchFamily="18" charset="0"/>
              </a:rPr>
              <a:t>By</a:t>
            </a:r>
            <a:endParaRPr lang="en-US" sz="1400" b="1" dirty="0">
              <a:solidFill>
                <a:srgbClr val="002060"/>
              </a:solidFill>
              <a:latin typeface="Times New Roman" panose="02020603050405020304" pitchFamily="18" charset="0"/>
              <a:cs typeface="Times New Roman" panose="02020603050405020304" pitchFamily="18" charset="0"/>
            </a:endParaRPr>
          </a:p>
          <a:p>
            <a:pPr algn="ctr"/>
            <a:r>
              <a:rPr lang="en-US" sz="2000" b="1" dirty="0" smtClean="0">
                <a:solidFill>
                  <a:srgbClr val="002060"/>
                </a:solidFill>
                <a:latin typeface="Times New Roman" panose="02020603050405020304" pitchFamily="18" charset="0"/>
                <a:cs typeface="Times New Roman" panose="02020603050405020304" pitchFamily="18" charset="0"/>
              </a:rPr>
              <a:t>Khandagale Tushar Santosh </a:t>
            </a:r>
            <a:endParaRPr lang="en-US" sz="2000" b="1" dirty="0">
              <a:solidFill>
                <a:srgbClr val="002060"/>
              </a:solidFill>
              <a:latin typeface="Times New Roman" panose="02020603050405020304" pitchFamily="18" charset="0"/>
              <a:cs typeface="Times New Roman" panose="02020603050405020304" pitchFamily="18" charset="0"/>
            </a:endParaRPr>
          </a:p>
          <a:p>
            <a:pPr algn="ctr"/>
            <a:r>
              <a:rPr lang="en-US" sz="2000" b="1" dirty="0" err="1" smtClean="0">
                <a:solidFill>
                  <a:srgbClr val="002060"/>
                </a:solidFill>
                <a:latin typeface="Times New Roman" panose="02020603050405020304" pitchFamily="18" charset="0"/>
                <a:cs typeface="Times New Roman" panose="02020603050405020304" pitchFamily="18" charset="0"/>
              </a:rPr>
              <a:t>Pokharkar</a:t>
            </a:r>
            <a:r>
              <a:rPr lang="en-US" sz="2000" b="1" dirty="0" smtClean="0">
                <a:solidFill>
                  <a:srgbClr val="002060"/>
                </a:solidFill>
                <a:latin typeface="Times New Roman" panose="02020603050405020304" pitchFamily="18" charset="0"/>
                <a:cs typeface="Times New Roman" panose="02020603050405020304" pitchFamily="18" charset="0"/>
              </a:rPr>
              <a:t> </a:t>
            </a:r>
            <a:r>
              <a:rPr lang="en-US" sz="2000" b="1" dirty="0" err="1" smtClean="0">
                <a:solidFill>
                  <a:srgbClr val="002060"/>
                </a:solidFill>
                <a:latin typeface="Times New Roman" panose="02020603050405020304" pitchFamily="18" charset="0"/>
                <a:cs typeface="Times New Roman" panose="02020603050405020304" pitchFamily="18" charset="0"/>
              </a:rPr>
              <a:t>Omkar</a:t>
            </a:r>
            <a:r>
              <a:rPr lang="en-US" sz="2000" b="1" dirty="0" smtClean="0">
                <a:solidFill>
                  <a:srgbClr val="002060"/>
                </a:solidFill>
                <a:latin typeface="Times New Roman" panose="02020603050405020304" pitchFamily="18" charset="0"/>
                <a:cs typeface="Times New Roman" panose="02020603050405020304" pitchFamily="18" charset="0"/>
              </a:rPr>
              <a:t> Kiran</a:t>
            </a:r>
            <a:endParaRPr lang="en-US" sz="2000" b="1" dirty="0">
              <a:solidFill>
                <a:srgbClr val="002060"/>
              </a:solidFill>
              <a:latin typeface="Times New Roman" panose="02020603050405020304" pitchFamily="18" charset="0"/>
              <a:cs typeface="Times New Roman" panose="02020603050405020304" pitchFamily="18" charset="0"/>
            </a:endParaRPr>
          </a:p>
          <a:p>
            <a:pPr algn="ctr"/>
            <a:r>
              <a:rPr lang="en-US" sz="2000" b="1" dirty="0" smtClean="0">
                <a:solidFill>
                  <a:srgbClr val="002060"/>
                </a:solidFill>
                <a:latin typeface="Times New Roman" panose="02020603050405020304" pitchFamily="18" charset="0"/>
                <a:cs typeface="Times New Roman" panose="02020603050405020304" pitchFamily="18" charset="0"/>
              </a:rPr>
              <a:t>Raj Dwarkanath </a:t>
            </a:r>
            <a:r>
              <a:rPr lang="en-US" sz="2000" b="1" dirty="0" err="1" smtClean="0">
                <a:solidFill>
                  <a:srgbClr val="002060"/>
                </a:solidFill>
                <a:latin typeface="Times New Roman" panose="02020603050405020304" pitchFamily="18" charset="0"/>
                <a:cs typeface="Times New Roman" panose="02020603050405020304" pitchFamily="18" charset="0"/>
              </a:rPr>
              <a:t>Jadhav</a:t>
            </a:r>
            <a:endParaRPr lang="en-US" sz="2000" b="1" dirty="0" smtClean="0">
              <a:solidFill>
                <a:srgbClr val="002060"/>
              </a:solidFill>
              <a:latin typeface="Times New Roman" panose="02020603050405020304" pitchFamily="18" charset="0"/>
              <a:cs typeface="Times New Roman" panose="02020603050405020304" pitchFamily="18" charset="0"/>
            </a:endParaRPr>
          </a:p>
          <a:p>
            <a:pPr algn="ctr"/>
            <a:r>
              <a:rPr lang="en-US" sz="2000" b="1" dirty="0" smtClean="0">
                <a:solidFill>
                  <a:srgbClr val="002060"/>
                </a:solidFill>
                <a:latin typeface="Times New Roman" panose="02020603050405020304" pitchFamily="18" charset="0"/>
                <a:cs typeface="Times New Roman" panose="02020603050405020304" pitchFamily="18" charset="0"/>
              </a:rPr>
              <a:t>Raul </a:t>
            </a:r>
            <a:r>
              <a:rPr lang="en-US" sz="2000" b="1" dirty="0" err="1" smtClean="0">
                <a:solidFill>
                  <a:srgbClr val="002060"/>
                </a:solidFill>
                <a:latin typeface="Times New Roman" panose="02020603050405020304" pitchFamily="18" charset="0"/>
                <a:cs typeface="Times New Roman" panose="02020603050405020304" pitchFamily="18" charset="0"/>
              </a:rPr>
              <a:t>Vishwajeetsinh</a:t>
            </a:r>
            <a:r>
              <a:rPr lang="en-US" sz="2000" b="1" dirty="0" smtClean="0">
                <a:solidFill>
                  <a:srgbClr val="002060"/>
                </a:solidFill>
                <a:latin typeface="Times New Roman" panose="02020603050405020304" pitchFamily="18" charset="0"/>
                <a:cs typeface="Times New Roman" panose="02020603050405020304" pitchFamily="18" charset="0"/>
              </a:rPr>
              <a:t> Hardayalsinh</a:t>
            </a:r>
            <a:endParaRPr lang="en-US" sz="2800" b="1" dirty="0">
              <a:solidFill>
                <a:srgbClr val="002060"/>
              </a:solidFill>
              <a:latin typeface="Times New Roman" panose="02020603050405020304" pitchFamily="18" charset="0"/>
              <a:cs typeface="Times New Roman" panose="02020603050405020304" pitchFamily="18" charset="0"/>
            </a:endParaRPr>
          </a:p>
          <a:p>
            <a:pPr marL="0" indent="0" algn="ctr">
              <a:lnSpc>
                <a:spcPct val="100000"/>
              </a:lnSpc>
              <a:buNone/>
            </a:pPr>
            <a:endParaRPr lang="en-US" sz="1600" b="1" dirty="0">
              <a:solidFill>
                <a:srgbClr val="002060"/>
              </a:solidFill>
              <a:latin typeface="Times New Roman" panose="02020603050405020304" pitchFamily="18" charset="0"/>
              <a:cs typeface="Times New Roman" panose="02020603050405020304" pitchFamily="18" charset="0"/>
            </a:endParaRPr>
          </a:p>
          <a:p>
            <a:pPr marL="0" indent="0" algn="ctr">
              <a:lnSpc>
                <a:spcPct val="100000"/>
              </a:lnSpc>
              <a:buNone/>
            </a:pPr>
            <a:r>
              <a:rPr lang="en-US" sz="2000" b="1" dirty="0">
                <a:latin typeface="Times New Roman" panose="02020603050405020304" pitchFamily="18" charset="0"/>
                <a:cs typeface="Times New Roman" panose="02020603050405020304" pitchFamily="18" charset="0"/>
              </a:rPr>
              <a:t>Department of Computer Engineering</a:t>
            </a:r>
          </a:p>
          <a:p>
            <a:pPr marL="0" indent="0" algn="ctr">
              <a:lnSpc>
                <a:spcPct val="100000"/>
              </a:lnSpc>
              <a:buNone/>
            </a:pPr>
            <a:r>
              <a:rPr lang="en-US" sz="2000" b="1" dirty="0">
                <a:solidFill>
                  <a:srgbClr val="002060"/>
                </a:solidFill>
                <a:latin typeface="Times New Roman" panose="02020603050405020304" pitchFamily="18" charset="0"/>
                <a:cs typeface="Times New Roman" panose="02020603050405020304" pitchFamily="18" charset="0"/>
              </a:rPr>
              <a:t>2025-2026</a:t>
            </a:r>
          </a:p>
        </p:txBody>
      </p:sp>
      <p:pic>
        <p:nvPicPr>
          <p:cNvPr id="4" name="Picture 3">
            <a:extLst>
              <a:ext uri="{FF2B5EF4-FFF2-40B4-BE49-F238E27FC236}">
                <a16:creationId xmlns:a16="http://schemas.microsoft.com/office/drawing/2014/main" xmlns="" id="{6244607F-6BCD-26DF-1790-9C4C2A9C1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8085" y="1290613"/>
            <a:ext cx="2135829" cy="1088008"/>
          </a:xfrm>
          <a:prstGeom prst="rect">
            <a:avLst/>
          </a:prstGeom>
        </p:spPr>
      </p:pic>
      <p:pic>
        <p:nvPicPr>
          <p:cNvPr id="5" name="Picture 4">
            <a:extLst>
              <a:ext uri="{FF2B5EF4-FFF2-40B4-BE49-F238E27FC236}">
                <a16:creationId xmlns:a16="http://schemas.microsoft.com/office/drawing/2014/main" xmlns="" id="{849537B7-86D2-6B62-9E6A-F22BF42A218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268" y="126054"/>
            <a:ext cx="2101676" cy="1562202"/>
          </a:xfrm>
          <a:prstGeom prst="rect">
            <a:avLst/>
          </a:prstGeom>
          <a:noFill/>
          <a:ln>
            <a:noFill/>
          </a:ln>
        </p:spPr>
      </p:pic>
      <p:pic>
        <p:nvPicPr>
          <p:cNvPr id="6" name="image2.jpg">
            <a:extLst>
              <a:ext uri="{FF2B5EF4-FFF2-40B4-BE49-F238E27FC236}">
                <a16:creationId xmlns:a16="http://schemas.microsoft.com/office/drawing/2014/main" xmlns="" id="{7C30C290-22CF-C5C7-0F63-039FDBF4F963}"/>
              </a:ext>
            </a:extLst>
          </p:cNvPr>
          <p:cNvPicPr/>
          <p:nvPr/>
        </p:nvPicPr>
        <p:blipFill>
          <a:blip r:embed="rId4"/>
          <a:srcRect/>
          <a:stretch>
            <a:fillRect/>
          </a:stretch>
        </p:blipFill>
        <p:spPr>
          <a:xfrm>
            <a:off x="10323870" y="176220"/>
            <a:ext cx="1625555" cy="1512036"/>
          </a:xfrm>
          <a:prstGeom prst="rect">
            <a:avLst/>
          </a:prstGeom>
          <a:ln/>
        </p:spPr>
      </p:pic>
      <p:sp>
        <p:nvSpPr>
          <p:cNvPr id="9" name="Rectangle 2">
            <a:extLst>
              <a:ext uri="{FF2B5EF4-FFF2-40B4-BE49-F238E27FC236}">
                <a16:creationId xmlns:a16="http://schemas.microsoft.com/office/drawing/2014/main" xmlns="" id="{69BE2DB1-AAA6-9836-95D4-85E92B2A49C2}"/>
              </a:ext>
            </a:extLst>
          </p:cNvPr>
          <p:cNvSpPr>
            <a:spLocks noChangeArrowheads="1"/>
          </p:cNvSpPr>
          <p:nvPr/>
        </p:nvSpPr>
        <p:spPr bwMode="auto">
          <a:xfrm>
            <a:off x="5105400" y="3681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73715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4784"/>
            <a:ext cx="10515600" cy="1325563"/>
          </a:xfrm>
        </p:spPr>
        <p:txBody>
          <a:bodyPr>
            <a:normAutofit/>
          </a:bodyPr>
          <a:lstStyle/>
          <a:p>
            <a:r>
              <a:rPr lang="en-US" sz="4000" dirty="0" smtClean="0">
                <a:latin typeface="Times New Roman" panose="02020603050405020304" pitchFamily="18" charset="0"/>
                <a:cs typeface="Times New Roman" panose="02020603050405020304" pitchFamily="18" charset="0"/>
              </a:rPr>
              <a:t>Introduction</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2000" b="1" dirty="0" smtClean="0">
                <a:latin typeface="Times New Roman" panose="02020603050405020304" pitchFamily="18" charset="0"/>
                <a:cs typeface="Times New Roman" panose="02020603050405020304" pitchFamily="18" charset="0"/>
              </a:rPr>
              <a:t>Overview</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Notehub is a full-stack, AI-integrated web application designed to digitize, centralize, and simplify student knowledge sharing.</a:t>
            </a:r>
          </a:p>
          <a:p>
            <a:r>
              <a:rPr lang="en-US" sz="2000" b="1" dirty="0">
                <a:latin typeface="Times New Roman" panose="02020603050405020304" pitchFamily="18" charset="0"/>
                <a:cs typeface="Times New Roman" panose="02020603050405020304" pitchFamily="18" charset="0"/>
              </a:rPr>
              <a:t>The Problem:</a:t>
            </a:r>
            <a:r>
              <a:rPr lang="en-US" sz="2000" dirty="0">
                <a:latin typeface="Times New Roman" panose="02020603050405020304" pitchFamily="18" charset="0"/>
                <a:cs typeface="Times New Roman" panose="02020603050405020304" pitchFamily="18" charset="0"/>
              </a:rPr>
              <a:t> Traditional note-sharing relies on scattered, unverified sources, making students vulnerable to data loss and incorrect academic information.</a:t>
            </a:r>
          </a:p>
          <a:p>
            <a:r>
              <a:rPr lang="en-US" sz="2000" b="1" dirty="0">
                <a:latin typeface="Times New Roman" panose="02020603050405020304" pitchFamily="18" charset="0"/>
                <a:cs typeface="Times New Roman" panose="02020603050405020304" pitchFamily="18" charset="0"/>
              </a:rPr>
              <a:t>The Solution:</a:t>
            </a:r>
            <a:r>
              <a:rPr lang="en-US" sz="2000" dirty="0">
                <a:latin typeface="Times New Roman" panose="02020603050405020304" pitchFamily="18" charset="0"/>
                <a:cs typeface="Times New Roman" panose="02020603050405020304" pitchFamily="18" charset="0"/>
              </a:rPr>
              <a:t> Notehub provides a focused, scalable platform where students can securely upload, store, and access academic materials.</a:t>
            </a:r>
          </a:p>
          <a:p>
            <a:r>
              <a:rPr lang="en-US" sz="2000" b="1" dirty="0">
                <a:latin typeface="Times New Roman" panose="02020603050405020304" pitchFamily="18" charset="0"/>
                <a:cs typeface="Times New Roman" panose="02020603050405020304" pitchFamily="18" charset="0"/>
              </a:rPr>
              <a:t>Quality &amp; AI Integration:</a:t>
            </a:r>
            <a:r>
              <a:rPr lang="en-US" sz="2000" dirty="0">
                <a:latin typeface="Times New Roman" panose="02020603050405020304" pitchFamily="18" charset="0"/>
                <a:cs typeface="Times New Roman" panose="02020603050405020304" pitchFamily="18" charset="0"/>
              </a:rPr>
              <a:t> Features a strict Admin moderation panel to verify notes, alongside an AI Module (Gemini API) for instant doubt resolution and plagiarism checking.</a:t>
            </a:r>
          </a:p>
          <a:p>
            <a:r>
              <a:rPr lang="en-US" sz="2000" b="1" dirty="0">
                <a:latin typeface="Times New Roman" panose="02020603050405020304" pitchFamily="18" charset="0"/>
                <a:cs typeface="Times New Roman" panose="02020603050405020304" pitchFamily="18" charset="0"/>
              </a:rPr>
              <a:t>Modern Architecture:</a:t>
            </a:r>
            <a:r>
              <a:rPr lang="en-US" sz="2000" dirty="0">
                <a:latin typeface="Times New Roman" panose="02020603050405020304" pitchFamily="18" charset="0"/>
                <a:cs typeface="Times New Roman" panose="02020603050405020304" pitchFamily="18" charset="0"/>
              </a:rPr>
              <a:t> Built using HTML/CSS/JS (Frontend), Node.js (Backend), SQL (Database), and containerized with Docker for seamless real-world deployment.</a:t>
            </a:r>
          </a:p>
        </p:txBody>
      </p:sp>
    </p:spTree>
    <p:extLst>
      <p:ext uri="{BB962C8B-B14F-4D97-AF65-F5344CB8AC3E}">
        <p14:creationId xmlns:p14="http://schemas.microsoft.com/office/powerpoint/2010/main" val="1860236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094" y="1333532"/>
            <a:ext cx="10515600" cy="4351338"/>
          </a:xfrm>
        </p:spPr>
        <p:txBody>
          <a:bodyPr>
            <a:normAutofit/>
          </a:bodyPr>
          <a:lstStyle/>
          <a:p>
            <a:r>
              <a:rPr lang="en-US" sz="2000" b="1" dirty="0">
                <a:latin typeface="Times New Roman" panose="02020603050405020304" pitchFamily="18" charset="0"/>
                <a:cs typeface="Times New Roman" panose="02020603050405020304" pitchFamily="18" charset="0"/>
              </a:rPr>
              <a:t>Student-Centric Community:</a:t>
            </a:r>
            <a:r>
              <a:rPr lang="en-US" sz="2000" dirty="0">
                <a:latin typeface="Times New Roman" panose="02020603050405020304" pitchFamily="18" charset="0"/>
                <a:cs typeface="Times New Roman" panose="02020603050405020304" pitchFamily="18" charset="0"/>
              </a:rPr>
              <a:t> Notehub goes beyond file storage by encouraging active academic discussions through integrated Chat Rooms and a gamified Leaderboard system.</a:t>
            </a:r>
          </a:p>
          <a:p>
            <a:r>
              <a:rPr lang="en-US" sz="2000" b="1" dirty="0">
                <a:latin typeface="Times New Roman" panose="02020603050405020304" pitchFamily="18" charset="0"/>
                <a:cs typeface="Times New Roman" panose="02020603050405020304" pitchFamily="18" charset="0"/>
              </a:rPr>
              <a:t>Streamlined Workflow:</a:t>
            </a:r>
            <a:r>
              <a:rPr lang="en-US" sz="2000" dirty="0">
                <a:latin typeface="Times New Roman" panose="02020603050405020304" pitchFamily="18" charset="0"/>
                <a:cs typeface="Times New Roman" panose="02020603050405020304" pitchFamily="18" charset="0"/>
              </a:rPr>
              <a:t> The system operates on a seamless 3-step process: students upload notes → admins verify content quality → notes are published for global search and access.</a:t>
            </a:r>
          </a:p>
          <a:p>
            <a:r>
              <a:rPr lang="en-US" sz="2000" b="1" dirty="0">
                <a:latin typeface="Times New Roman" panose="02020603050405020304" pitchFamily="18" charset="0"/>
                <a:cs typeface="Times New Roman" panose="02020603050405020304" pitchFamily="18" charset="0"/>
              </a:rPr>
              <a:t>Enhanced Productivity:</a:t>
            </a:r>
            <a:r>
              <a:rPr lang="en-US" sz="2000" dirty="0">
                <a:latin typeface="Times New Roman" panose="02020603050405020304" pitchFamily="18" charset="0"/>
                <a:cs typeface="Times New Roman" panose="02020603050405020304" pitchFamily="18" charset="0"/>
              </a:rPr>
              <a:t> Reduces the time students spend searching for reliable study materials by providing an organized, keyword-searchable database.</a:t>
            </a:r>
          </a:p>
          <a:p>
            <a:r>
              <a:rPr lang="en-US" sz="2000" b="1" dirty="0">
                <a:latin typeface="Times New Roman" panose="02020603050405020304" pitchFamily="18" charset="0"/>
                <a:cs typeface="Times New Roman" panose="02020603050405020304" pitchFamily="18" charset="0"/>
              </a:rPr>
              <a:t>Real-World Application:</a:t>
            </a:r>
            <a:r>
              <a:rPr lang="en-US" sz="2000" dirty="0">
                <a:latin typeface="Times New Roman" panose="02020603050405020304" pitchFamily="18" charset="0"/>
                <a:cs typeface="Times New Roman" panose="02020603050405020304" pitchFamily="18" charset="0"/>
              </a:rPr>
              <a:t> Designed with scalability in mind, proving that complex, multi-tier web applications can effectively solve everyday academic challenges.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7650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2019"/>
            <a:ext cx="10515600" cy="1325563"/>
          </a:xfrm>
        </p:spPr>
        <p:txBody>
          <a:bodyPr>
            <a:normAutofit/>
          </a:bodyPr>
          <a:lstStyle/>
          <a:p>
            <a:r>
              <a:rPr lang="en-US" sz="4000" dirty="0" smtClean="0">
                <a:latin typeface="Times New Roman" panose="02020603050405020304" pitchFamily="18" charset="0"/>
                <a:cs typeface="Times New Roman" panose="02020603050405020304" pitchFamily="18" charset="0"/>
              </a:rPr>
              <a:t>Problem Statement</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39072"/>
            <a:ext cx="10515600" cy="4351338"/>
          </a:xfrm>
        </p:spPr>
        <p:txBody>
          <a:bodyPr>
            <a:normAutofit/>
          </a:bodyPr>
          <a:lstStyle/>
          <a:p>
            <a:r>
              <a:rPr lang="en-US" sz="2000" b="1" dirty="0">
                <a:latin typeface="Times New Roman" panose="02020603050405020304" pitchFamily="18" charset="0"/>
                <a:cs typeface="Times New Roman" panose="02020603050405020304" pitchFamily="18" charset="0"/>
              </a:rPr>
              <a:t>The Problem We're Solving</a:t>
            </a:r>
          </a:p>
          <a:p>
            <a:r>
              <a:rPr lang="en-US" sz="2000" dirty="0">
                <a:latin typeface="Times New Roman" panose="02020603050405020304" pitchFamily="18" charset="0"/>
                <a:cs typeface="Times New Roman" panose="02020603050405020304" pitchFamily="18" charset="0"/>
              </a:rPr>
              <a:t>Traditional note-taking methods are fragmented, inefficient, and prone to data loss. Students across institutions struggle with disorganized study materials stored on personal devices, shared drives, or physical notebooks — none of which offer reliability, </a:t>
            </a:r>
            <a:r>
              <a:rPr lang="en-US" sz="2000" dirty="0" err="1">
                <a:latin typeface="Times New Roman" panose="02020603050405020304" pitchFamily="18" charset="0"/>
                <a:cs typeface="Times New Roman" panose="02020603050405020304" pitchFamily="18" charset="0"/>
              </a:rPr>
              <a:t>searchability</a:t>
            </a:r>
            <a:r>
              <a:rPr lang="en-US" sz="2000" dirty="0">
                <a:latin typeface="Times New Roman" panose="02020603050405020304" pitchFamily="18" charset="0"/>
                <a:cs typeface="Times New Roman" panose="02020603050405020304" pitchFamily="18" charset="0"/>
              </a:rPr>
              <a:t>, or peer verification. Furthermore, when students seek academic help online, they often land on unchecked forums, spam-filled Q&amp;A sites, or unverified document repositories that can propagate misinformation.</a:t>
            </a:r>
          </a:p>
          <a:p>
            <a:r>
              <a:rPr lang="en-US" sz="2000" dirty="0">
                <a:latin typeface="Times New Roman" panose="02020603050405020304" pitchFamily="18" charset="0"/>
                <a:cs typeface="Times New Roman" panose="02020603050405020304" pitchFamily="18" charset="0"/>
              </a:rPr>
              <a:t>The absence of a centralized, moderated platform means there is no guarantee of content quality, no institutional accountability, and no intelligent assistance to guide students toward verified answers. This gap in the academic ecosystem is what NoteHub is designed to address.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6624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4F2DAB-FF7F-4232-81BF-CB376C1A351B}"/>
              </a:ext>
            </a:extLst>
          </p:cNvPr>
          <p:cNvSpPr>
            <a:spLocks noGrp="1"/>
          </p:cNvSpPr>
          <p:nvPr>
            <p:ph type="title"/>
          </p:nvPr>
        </p:nvSpPr>
        <p:spPr>
          <a:xfrm>
            <a:off x="1102659" y="541689"/>
            <a:ext cx="4472609" cy="817632"/>
          </a:xfrm>
        </p:spPr>
        <p:txBody>
          <a:bodyPr>
            <a:noAutofit/>
          </a:bodyPr>
          <a:lstStyle/>
          <a:p>
            <a:r>
              <a:rPr lang="en-US" sz="4000" dirty="0">
                <a:latin typeface="Times New Roman" panose="02020603050405020304" pitchFamily="18" charset="0"/>
                <a:cs typeface="Times New Roman" panose="02020603050405020304" pitchFamily="18" charset="0"/>
              </a:rPr>
              <a:t>Objectives</a:t>
            </a:r>
            <a:endParaRPr lang="en-IN" sz="4000"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xmlns="" id="{E2683EDF-7058-4C9D-A846-576891063B8A}"/>
              </a:ext>
            </a:extLst>
          </p:cNvPr>
          <p:cNvSpPr>
            <a:spLocks noChangeArrowheads="1"/>
          </p:cNvSpPr>
          <p:nvPr/>
        </p:nvSpPr>
        <p:spPr bwMode="auto">
          <a:xfrm>
            <a:off x="795131" y="3625732"/>
            <a:ext cx="10389704"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nSpc>
                <a:spcPct val="150000"/>
              </a:lnSpc>
              <a:buFont typeface="Wingdings" panose="05000000000000000000" pitchFamily="2" charset="2"/>
              <a:buChar char="q"/>
            </a:pPr>
            <a:endParaRPr lang="en-IN" dirty="0">
              <a:latin typeface="Arial" panose="020B0604020202020204" pitchFamily="34" charset="0"/>
              <a:cs typeface="Arial" panose="020B0604020202020204" pitchFamily="34" charset="0"/>
            </a:endParaRPr>
          </a:p>
        </p:txBody>
      </p:sp>
      <p:sp>
        <p:nvSpPr>
          <p:cNvPr id="4" name="TextBox 3"/>
          <p:cNvSpPr txBox="1"/>
          <p:nvPr/>
        </p:nvSpPr>
        <p:spPr>
          <a:xfrm>
            <a:off x="1102659" y="1533465"/>
            <a:ext cx="9439835" cy="5324535"/>
          </a:xfrm>
          <a:prstGeom prst="rect">
            <a:avLst/>
          </a:prstGeom>
          <a:noFill/>
        </p:spPr>
        <p:txBody>
          <a:bodyPr wrap="square" rtlCol="0">
            <a:spAutoFit/>
          </a:bodyPr>
          <a:lstStyle/>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Develop a Secure Authentication Pipeline:</a:t>
            </a:r>
            <a:r>
              <a:rPr lang="en-IN" sz="2000" dirty="0">
                <a:latin typeface="Times New Roman" panose="02020603050405020304" pitchFamily="18" charset="0"/>
                <a:cs typeface="Times New Roman" panose="02020603050405020304" pitchFamily="18" charset="0"/>
              </a:rPr>
              <a:t> Implement a JWT-secured login system combined with Google OAuth to ensure seamless and secure access for all university students.</a:t>
            </a:r>
          </a:p>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Automate AI Identity Verification:</a:t>
            </a:r>
            <a:r>
              <a:rPr lang="en-IN" sz="2000" dirty="0">
                <a:latin typeface="Times New Roman" panose="02020603050405020304" pitchFamily="18" charset="0"/>
                <a:cs typeface="Times New Roman" panose="02020603050405020304" pitchFamily="18" charset="0"/>
              </a:rPr>
              <a:t> Deploy an AI-driven verification engine to automatically process and validate multi-document uploads (ID cards and </a:t>
            </a:r>
            <a:r>
              <a:rPr lang="en-IN" sz="2000" dirty="0" err="1">
                <a:latin typeface="Times New Roman" panose="02020603050405020304" pitchFamily="18" charset="0"/>
                <a:cs typeface="Times New Roman" panose="02020603050405020304" pitchFamily="18" charset="0"/>
              </a:rPr>
              <a:t>Bonafide</a:t>
            </a:r>
            <a:r>
              <a:rPr lang="en-IN" sz="2000" dirty="0">
                <a:latin typeface="Times New Roman" panose="02020603050405020304" pitchFamily="18" charset="0"/>
                <a:cs typeface="Times New Roman" panose="02020603050405020304" pitchFamily="18" charset="0"/>
              </a:rPr>
              <a:t> certificates) with high accuracy to prevent unauthorized accounts.</a:t>
            </a:r>
          </a:p>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Implement Robust Plagiarism Detection:</a:t>
            </a:r>
            <a:r>
              <a:rPr lang="en-IN" sz="2000" dirty="0">
                <a:latin typeface="Times New Roman" panose="02020603050405020304" pitchFamily="18" charset="0"/>
                <a:cs typeface="Times New Roman" panose="02020603050405020304" pitchFamily="18" charset="0"/>
              </a:rPr>
              <a:t> Build a document processing pipeline utilizing text shingling (</a:t>
            </a:r>
            <a:r>
              <a:rPr lang="en-IN" sz="2000" dirty="0" err="1">
                <a:latin typeface="Times New Roman" panose="02020603050405020304" pitchFamily="18" charset="0"/>
                <a:cs typeface="Times New Roman" panose="02020603050405020304" pitchFamily="18" charset="0"/>
              </a:rPr>
              <a:t>SimCheck</a:t>
            </a:r>
            <a:r>
              <a:rPr lang="en-IN" sz="2000" dirty="0">
                <a:latin typeface="Times New Roman" panose="02020603050405020304" pitchFamily="18" charset="0"/>
                <a:cs typeface="Times New Roman" panose="02020603050405020304" pitchFamily="18" charset="0"/>
              </a:rPr>
              <a:t>) and structural hashing to detect and successfully block duplicate or heavily plagiarized study materials.</a:t>
            </a:r>
          </a:p>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Enable Intelligent Semantic Search:</a:t>
            </a:r>
            <a:r>
              <a:rPr lang="en-IN" sz="2000" dirty="0">
                <a:latin typeface="Times New Roman" panose="02020603050405020304" pitchFamily="18" charset="0"/>
                <a:cs typeface="Times New Roman" panose="02020603050405020304" pitchFamily="18" charset="0"/>
              </a:rPr>
              <a:t> Integrate vector embedding generation and a vector database to allow students to discover highly relevant academic resources based on contextual meaning rather than just exact keyword matching.</a:t>
            </a:r>
          </a:p>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Establish Gamification Mechanics:</a:t>
            </a:r>
            <a:r>
              <a:rPr lang="en-IN" sz="2000" dirty="0">
                <a:latin typeface="Times New Roman" panose="02020603050405020304" pitchFamily="18" charset="0"/>
                <a:cs typeface="Times New Roman" panose="02020603050405020304" pitchFamily="18" charset="0"/>
              </a:rPr>
              <a:t> Create a dynamic, real-time </a:t>
            </a:r>
            <a:r>
              <a:rPr lang="en-IN" sz="2000" dirty="0" err="1">
                <a:latin typeface="Times New Roman" panose="02020603050405020304" pitchFamily="18" charset="0"/>
                <a:cs typeface="Times New Roman" panose="02020603050405020304" pitchFamily="18" charset="0"/>
              </a:rPr>
              <a:t>leaderboard</a:t>
            </a:r>
            <a:r>
              <a:rPr lang="en-IN" sz="2000" dirty="0">
                <a:latin typeface="Times New Roman" panose="02020603050405020304" pitchFamily="18" charset="0"/>
                <a:cs typeface="Times New Roman" panose="02020603050405020304" pitchFamily="18" charset="0"/>
              </a:rPr>
              <a:t> system ("Departmental Flare") with point multipliers (e.g., 1.1x boost) to motivate students and increase daily active user engagement</a:t>
            </a:r>
            <a:r>
              <a:rPr lang="en-IN" sz="20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endParaRPr lang="en-IN"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39993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35424" y="1371600"/>
            <a:ext cx="9466729" cy="4007224"/>
          </a:xfrm>
          <a:prstGeom prst="rect">
            <a:avLst/>
          </a:prstGeom>
          <a:noFill/>
        </p:spPr>
        <p:txBody>
          <a:bodyPr wrap="square" rtlCol="0">
            <a:spAutoFit/>
          </a:bodyPr>
          <a:lstStyle/>
          <a:p>
            <a:endParaRPr lang="en-US" dirty="0"/>
          </a:p>
        </p:txBody>
      </p:sp>
      <p:sp>
        <p:nvSpPr>
          <p:cNvPr id="4" name="TextBox 3"/>
          <p:cNvSpPr txBox="1"/>
          <p:nvPr/>
        </p:nvSpPr>
        <p:spPr>
          <a:xfrm>
            <a:off x="1277471" y="1156447"/>
            <a:ext cx="9399494" cy="4985980"/>
          </a:xfrm>
          <a:prstGeom prst="rect">
            <a:avLst/>
          </a:prstGeom>
          <a:noFill/>
        </p:spPr>
        <p:txBody>
          <a:bodyPr wrap="square" rtlCol="0">
            <a:spAutoFit/>
          </a:bodyPr>
          <a:lstStyle/>
          <a:p>
            <a:r>
              <a:rPr lang="en-IN" sz="2000" b="1" dirty="0" smtClean="0">
                <a:latin typeface="Times New Roman" panose="02020603050405020304" pitchFamily="18" charset="0"/>
                <a:cs typeface="Times New Roman" panose="02020603050405020304" pitchFamily="18" charset="0"/>
              </a:rPr>
              <a:t>6. Facilitate </a:t>
            </a:r>
            <a:r>
              <a:rPr lang="en-IN" sz="2000" b="1" dirty="0">
                <a:latin typeface="Times New Roman" panose="02020603050405020304" pitchFamily="18" charset="0"/>
                <a:cs typeface="Times New Roman" panose="02020603050405020304" pitchFamily="18" charset="0"/>
              </a:rPr>
              <a:t>Peer-to-Peer Collaboration:</a:t>
            </a:r>
            <a:r>
              <a:rPr lang="en-IN" sz="2000" dirty="0">
                <a:latin typeface="Times New Roman" panose="02020603050405020304" pitchFamily="18" charset="0"/>
                <a:cs typeface="Times New Roman" panose="02020603050405020304" pitchFamily="18" charset="0"/>
              </a:rPr>
              <a:t> Develop integrated study groups, help requests, and broadcast channels to allow real-time academic discussion and resource sharing among verified users.</a:t>
            </a:r>
          </a:p>
          <a:p>
            <a:endParaRPr lang="en-IN" sz="2000" b="1" dirty="0" smtClean="0">
              <a:latin typeface="Times New Roman" panose="02020603050405020304" pitchFamily="18" charset="0"/>
              <a:cs typeface="Times New Roman" panose="02020603050405020304" pitchFamily="18" charset="0"/>
            </a:endParaRPr>
          </a:p>
          <a:p>
            <a:r>
              <a:rPr lang="en-IN" sz="2000" b="1" dirty="0" smtClean="0">
                <a:latin typeface="Times New Roman" panose="02020603050405020304" pitchFamily="18" charset="0"/>
                <a:cs typeface="Times New Roman" panose="02020603050405020304" pitchFamily="18" charset="0"/>
              </a:rPr>
              <a:t>7. Ensure </a:t>
            </a:r>
            <a:r>
              <a:rPr lang="en-IN" sz="2000" b="1" dirty="0">
                <a:latin typeface="Times New Roman" panose="02020603050405020304" pitchFamily="18" charset="0"/>
                <a:cs typeface="Times New Roman" panose="02020603050405020304" pitchFamily="18" charset="0"/>
              </a:rPr>
              <a:t>Scalable Database Architecture:</a:t>
            </a:r>
            <a:r>
              <a:rPr lang="en-IN" sz="2000" dirty="0">
                <a:latin typeface="Times New Roman" panose="02020603050405020304" pitchFamily="18" charset="0"/>
                <a:cs typeface="Times New Roman" panose="02020603050405020304" pitchFamily="18" charset="0"/>
              </a:rPr>
              <a:t> Design a highly optimized PostgreSQL database schema capable of efficiently handling concurrent document uploads and heavy vector queries during peak exam seasons.</a:t>
            </a:r>
          </a:p>
          <a:p>
            <a:endParaRPr lang="en-IN" sz="2000" b="1" dirty="0" smtClean="0">
              <a:latin typeface="Times New Roman" panose="02020603050405020304" pitchFamily="18" charset="0"/>
              <a:cs typeface="Times New Roman" panose="02020603050405020304" pitchFamily="18" charset="0"/>
            </a:endParaRPr>
          </a:p>
          <a:p>
            <a:r>
              <a:rPr lang="en-IN" sz="2000" b="1" dirty="0" smtClean="0">
                <a:latin typeface="Times New Roman" panose="02020603050405020304" pitchFamily="18" charset="0"/>
                <a:cs typeface="Times New Roman" panose="02020603050405020304" pitchFamily="18" charset="0"/>
              </a:rPr>
              <a:t>8. Integrate </a:t>
            </a:r>
            <a:r>
              <a:rPr lang="en-IN" sz="2000" b="1" dirty="0">
                <a:latin typeface="Times New Roman" panose="02020603050405020304" pitchFamily="18" charset="0"/>
                <a:cs typeface="Times New Roman" panose="02020603050405020304" pitchFamily="18" charset="0"/>
              </a:rPr>
              <a:t>RAG-based AI Assistance:</a:t>
            </a:r>
            <a:r>
              <a:rPr lang="en-IN" sz="2000" dirty="0">
                <a:latin typeface="Times New Roman" panose="02020603050405020304" pitchFamily="18" charset="0"/>
                <a:cs typeface="Times New Roman" panose="02020603050405020304" pitchFamily="18" charset="0"/>
              </a:rPr>
              <a:t> Deploy a Retrieval-Augmented Generation (RAG) </a:t>
            </a:r>
            <a:r>
              <a:rPr lang="en-IN" sz="2000" dirty="0" err="1">
                <a:latin typeface="Times New Roman" panose="02020603050405020304" pitchFamily="18" charset="0"/>
                <a:cs typeface="Times New Roman" panose="02020603050405020304" pitchFamily="18" charset="0"/>
              </a:rPr>
              <a:t>chatbot</a:t>
            </a:r>
            <a:r>
              <a:rPr lang="en-IN" sz="2000" dirty="0">
                <a:latin typeface="Times New Roman" panose="02020603050405020304" pitchFamily="18" charset="0"/>
                <a:cs typeface="Times New Roman" panose="02020603050405020304" pitchFamily="18" charset="0"/>
              </a:rPr>
              <a:t> to provide instant, context-aware answers to student queries by pulling information directly from the platform’s verified note repository.</a:t>
            </a:r>
          </a:p>
          <a:p>
            <a:endParaRPr lang="en-IN" sz="2000" b="1" dirty="0" smtClean="0">
              <a:latin typeface="Times New Roman" panose="02020603050405020304" pitchFamily="18" charset="0"/>
              <a:cs typeface="Times New Roman" panose="02020603050405020304" pitchFamily="18" charset="0"/>
            </a:endParaRPr>
          </a:p>
          <a:p>
            <a:r>
              <a:rPr lang="en-IN" sz="2000" b="1" dirty="0" smtClean="0">
                <a:latin typeface="Times New Roman" panose="02020603050405020304" pitchFamily="18" charset="0"/>
                <a:cs typeface="Times New Roman" panose="02020603050405020304" pitchFamily="18" charset="0"/>
              </a:rPr>
              <a:t>9. Ensure </a:t>
            </a:r>
            <a:r>
              <a:rPr lang="en-IN" sz="2000" b="1" dirty="0">
                <a:latin typeface="Times New Roman" panose="02020603050405020304" pitchFamily="18" charset="0"/>
                <a:cs typeface="Times New Roman" panose="02020603050405020304" pitchFamily="18" charset="0"/>
              </a:rPr>
              <a:t>High Availability &amp; Cloud Deployment:</a:t>
            </a:r>
            <a:r>
              <a:rPr lang="en-IN" sz="2000" dirty="0">
                <a:latin typeface="Times New Roman" panose="02020603050405020304" pitchFamily="18" charset="0"/>
                <a:cs typeface="Times New Roman" panose="02020603050405020304" pitchFamily="18" charset="0"/>
              </a:rPr>
              <a:t> Containerize and deploy the application using modern cloud infrastructure to ensure 99.9% uptime and fast load times regardless of platform traffic.</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3657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rmAutofit/>
          </a:bodyPr>
          <a:lstStyle/>
          <a:p>
            <a:r>
              <a:rPr lang="en-US" sz="4000" dirty="0">
                <a:latin typeface="Times New Roman" panose="02020603050405020304" pitchFamily="18" charset="0"/>
                <a:cs typeface="Times New Roman" panose="02020603050405020304" pitchFamily="18" charset="0"/>
              </a:rPr>
              <a:t>Project Scope </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Core Features</a:t>
            </a:r>
          </a:p>
          <a:p>
            <a:pPr marL="0" indent="0">
              <a:buNone/>
            </a:pPr>
            <a:r>
              <a:rPr lang="en-US" sz="2000" dirty="0">
                <a:latin typeface="Times New Roman" panose="02020603050405020304" pitchFamily="18" charset="0"/>
                <a:cs typeface="Times New Roman" panose="02020603050405020304" pitchFamily="18" charset="0"/>
              </a:rPr>
              <a:t>Centralized note storage with structured categorization, admin moderation pipeline for content approval, and AI-powered query assistance to help students find answers quickly and accurately.</a:t>
            </a:r>
          </a:p>
          <a:p>
            <a:r>
              <a:rPr lang="en-US" sz="2000" b="1" dirty="0">
                <a:latin typeface="Times New Roman" panose="02020603050405020304" pitchFamily="18" charset="0"/>
                <a:cs typeface="Times New Roman" panose="02020603050405020304" pitchFamily="18" charset="0"/>
              </a:rPr>
              <a:t>Security Architecture</a:t>
            </a:r>
          </a:p>
          <a:p>
            <a:pPr marL="0" indent="0">
              <a:buNone/>
            </a:pPr>
            <a:r>
              <a:rPr lang="en-US" sz="2000" dirty="0">
                <a:latin typeface="Times New Roman" panose="02020603050405020304" pitchFamily="18" charset="0"/>
                <a:cs typeface="Times New Roman" panose="02020603050405020304" pitchFamily="18" charset="0"/>
              </a:rPr>
              <a:t>Secure API communication over HTTPS, environment variable management for sensitive credentials, session-based authentication, and role-based access control separating students from administrators.</a:t>
            </a:r>
          </a:p>
          <a:p>
            <a:r>
              <a:rPr lang="en-US" sz="2000" b="1" dirty="0">
                <a:latin typeface="Times New Roman" panose="02020603050405020304" pitchFamily="18" charset="0"/>
                <a:cs typeface="Times New Roman" panose="02020603050405020304" pitchFamily="18" charset="0"/>
              </a:rPr>
              <a:t>Future Scope (Excluded)</a:t>
            </a:r>
          </a:p>
          <a:p>
            <a:pPr marL="0" indent="0">
              <a:buNone/>
            </a:pPr>
            <a:r>
              <a:rPr lang="en-US" sz="2000" dirty="0">
                <a:latin typeface="Times New Roman" panose="02020603050405020304" pitchFamily="18" charset="0"/>
                <a:cs typeface="Times New Roman" panose="02020603050405020304" pitchFamily="18" charset="0"/>
              </a:rPr>
              <a:t>Native mobile applications for iOS and Android, real-time collaborative editing, cloud backup synchronization, and advance</a:t>
            </a:r>
          </a:p>
        </p:txBody>
      </p:sp>
    </p:spTree>
    <p:extLst>
      <p:ext uri="{BB962C8B-B14F-4D97-AF65-F5344CB8AC3E}">
        <p14:creationId xmlns:p14="http://schemas.microsoft.com/office/powerpoint/2010/main" val="19481268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875368-8799-CDCC-F454-A5A11116DE2B}"/>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Significance</a:t>
            </a:r>
          </a:p>
        </p:txBody>
      </p:sp>
      <p:sp>
        <p:nvSpPr>
          <p:cNvPr id="3" name="Text Placeholder 2">
            <a:extLst>
              <a:ext uri="{FF2B5EF4-FFF2-40B4-BE49-F238E27FC236}">
                <a16:creationId xmlns:a16="http://schemas.microsoft.com/office/drawing/2014/main" xmlns="" id="{F788A622-331D-E2C0-42DB-83E9AAF0F973}"/>
              </a:ext>
            </a:extLst>
          </p:cNvPr>
          <p:cNvSpPr>
            <a:spLocks noGrp="1"/>
          </p:cNvSpPr>
          <p:nvPr>
            <p:ph type="body" idx="1"/>
          </p:nvPr>
        </p:nvSpPr>
        <p:spPr/>
        <p:txBody>
          <a:bodyPr>
            <a:normAutofit/>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Why This Project Matters</a:t>
            </a:r>
          </a:p>
          <a:p>
            <a:r>
              <a:rPr lang="en-US" sz="2000" dirty="0">
                <a:latin typeface="Times New Roman" panose="02020603050405020304" pitchFamily="18" charset="0"/>
                <a:cs typeface="Times New Roman" panose="02020603050405020304" pitchFamily="18" charset="0"/>
              </a:rPr>
              <a:t>NoteHub is more than an academic exercise — it is a hands-on demonstration of industry-standard engineering practices. By building with Node.js, Docker, and SQL, the project mirrors real-world </a:t>
            </a:r>
            <a:r>
              <a:rPr lang="en-US" sz="2000" dirty="0" err="1">
                <a:latin typeface="Times New Roman" panose="02020603050405020304" pitchFamily="18" charset="0"/>
                <a:cs typeface="Times New Roman" panose="02020603050405020304" pitchFamily="18" charset="0"/>
              </a:rPr>
              <a:t>EdTech</a:t>
            </a:r>
            <a:r>
              <a:rPr lang="en-US" sz="2000" dirty="0">
                <a:latin typeface="Times New Roman" panose="02020603050405020304" pitchFamily="18" charset="0"/>
                <a:cs typeface="Times New Roman" panose="02020603050405020304" pitchFamily="18" charset="0"/>
              </a:rPr>
              <a:t> deployment pipelines used at scale by companies like Coursera, Khan Academy, and Notion.</a:t>
            </a:r>
          </a:p>
          <a:p>
            <a:r>
              <a:rPr lang="en-US" sz="2000" dirty="0">
                <a:latin typeface="Times New Roman" panose="02020603050405020304" pitchFamily="18" charset="0"/>
                <a:cs typeface="Times New Roman" panose="02020603050405020304" pitchFamily="18" charset="0"/>
              </a:rPr>
              <a:t>From a practical standpoint, NoteHub minimizes data loss by centralizing storage, ensures the reliability of study materials through admin verification, and builds a foundational architecture that can evolve into a full-fledged </a:t>
            </a:r>
            <a:r>
              <a:rPr lang="en-US" sz="2000" dirty="0" err="1">
                <a:latin typeface="Times New Roman" panose="02020603050405020304" pitchFamily="18" charset="0"/>
                <a:cs typeface="Times New Roman" panose="02020603050405020304" pitchFamily="18" charset="0"/>
              </a:rPr>
              <a:t>EdTech</a:t>
            </a:r>
            <a:r>
              <a:rPr lang="en-US" sz="2000" dirty="0">
                <a:latin typeface="Times New Roman" panose="02020603050405020304" pitchFamily="18" charset="0"/>
                <a:cs typeface="Times New Roman" panose="02020603050405020304" pitchFamily="18" charset="0"/>
              </a:rPr>
              <a:t> platform. For students, it means trustworthy resources. For developers, it means a production-grade reference implementation.</a:t>
            </a:r>
          </a:p>
          <a:p>
            <a:pPr marL="0" indent="0">
              <a:buNone/>
            </a:pP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31427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CBED35-4F87-424A-B0A3-6409A331DD40}"/>
              </a:ext>
            </a:extLst>
          </p:cNvPr>
          <p:cNvSpPr>
            <a:spLocks noGrp="1"/>
          </p:cNvSpPr>
          <p:nvPr>
            <p:ph type="title"/>
          </p:nvPr>
        </p:nvSpPr>
        <p:spPr>
          <a:xfrm>
            <a:off x="448500" y="193648"/>
            <a:ext cx="4986130" cy="797753"/>
          </a:xfrm>
        </p:spPr>
        <p:txBody>
          <a:bodyPr>
            <a:normAutofit/>
          </a:bodyPr>
          <a:lstStyle/>
          <a:p>
            <a:r>
              <a:rPr lang="en-US" sz="3600" dirty="0">
                <a:latin typeface="Times New Roman" panose="02020603050405020304" pitchFamily="18" charset="0"/>
                <a:cs typeface="Times New Roman" panose="02020603050405020304" pitchFamily="18" charset="0"/>
              </a:rPr>
              <a:t>Literature</a:t>
            </a:r>
            <a:r>
              <a:rPr lang="en-US" sz="40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Review</a:t>
            </a:r>
            <a:endParaRPr lang="en-IN" sz="40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320402359"/>
              </p:ext>
            </p:extLst>
          </p:nvPr>
        </p:nvGraphicFramePr>
        <p:xfrm>
          <a:off x="914403" y="991401"/>
          <a:ext cx="10408021" cy="5338506"/>
        </p:xfrm>
        <a:graphic>
          <a:graphicData uri="http://schemas.openxmlformats.org/drawingml/2006/table">
            <a:tbl>
              <a:tblPr/>
              <a:tblGrid>
                <a:gridCol w="806821"/>
                <a:gridCol w="2918011"/>
                <a:gridCol w="2003612"/>
                <a:gridCol w="753035"/>
                <a:gridCol w="3926542"/>
              </a:tblGrid>
              <a:tr h="213521">
                <a:tc>
                  <a:txBody>
                    <a:bodyPr/>
                    <a:lstStyle/>
                    <a:p>
                      <a:pPr algn="ctr"/>
                      <a:r>
                        <a:rPr lang="en-US" sz="2000" dirty="0">
                          <a:effectLst/>
                          <a:latin typeface="Times New Roman" panose="02020603050405020304" pitchFamily="18" charset="0"/>
                          <a:cs typeface="Times New Roman" panose="02020603050405020304" pitchFamily="18" charset="0"/>
                        </a:rPr>
                        <a:t>Sr. No.</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2000">
                          <a:effectLst/>
                          <a:latin typeface="Times New Roman" panose="02020603050405020304" pitchFamily="18" charset="0"/>
                          <a:cs typeface="Times New Roman" panose="02020603050405020304" pitchFamily="18" charset="0"/>
                        </a:rPr>
                        <a:t>Paper Title</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2000">
                          <a:effectLst/>
                          <a:latin typeface="Times New Roman" panose="02020603050405020304" pitchFamily="18" charset="0"/>
                          <a:cs typeface="Times New Roman" panose="02020603050405020304" pitchFamily="18" charset="0"/>
                        </a:rPr>
                        <a:t>Author(s)</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a:r>
                        <a:rPr lang="en-US" sz="2000">
                          <a:effectLst/>
                          <a:latin typeface="Times New Roman" panose="02020603050405020304" pitchFamily="18" charset="0"/>
                          <a:cs typeface="Times New Roman" panose="02020603050405020304" pitchFamily="18" charset="0"/>
                        </a:rPr>
                        <a:t>Year</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2000" dirty="0">
                          <a:effectLst/>
                          <a:latin typeface="Times New Roman" panose="02020603050405020304" pitchFamily="18" charset="0"/>
                          <a:cs typeface="Times New Roman" panose="02020603050405020304" pitchFamily="18" charset="0"/>
                        </a:rPr>
                        <a:t>Description</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r>
              <a:tr h="1174362">
                <a:tc>
                  <a:txBody>
                    <a:bodyPr/>
                    <a:lstStyle/>
                    <a:p>
                      <a:pPr algn="ctr"/>
                      <a:r>
                        <a:rPr lang="en-US" sz="1800" dirty="0">
                          <a:effectLst/>
                          <a:latin typeface="Times New Roman" panose="02020603050405020304" pitchFamily="18" charset="0"/>
                          <a:cs typeface="Times New Roman" panose="02020603050405020304" pitchFamily="18" charset="0"/>
                        </a:rPr>
                        <a:t>1</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IN" sz="1800">
                          <a:effectLst/>
                          <a:latin typeface="Times New Roman" panose="02020603050405020304" pitchFamily="18" charset="0"/>
                          <a:cs typeface="Times New Roman" panose="02020603050405020304" pitchFamily="18" charset="0"/>
                        </a:rPr>
                        <a:t>Research on Note-Taking Tools for Scientific Work</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US" sz="1800">
                          <a:effectLst/>
                          <a:latin typeface="Times New Roman" panose="02020603050405020304" pitchFamily="18" charset="0"/>
                          <a:cs typeface="Times New Roman" panose="02020603050405020304" pitchFamily="18" charset="0"/>
                        </a:rPr>
                        <a:t>Wang Shuyi, Cui Leiyue, Shi Ying, Wang Zheng</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2022</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IN" sz="1800" dirty="0" err="1">
                          <a:effectLst/>
                          <a:latin typeface="Times New Roman" panose="02020603050405020304" pitchFamily="18" charset="0"/>
                          <a:cs typeface="Times New Roman" panose="02020603050405020304" pitchFamily="18" charset="0"/>
                        </a:rPr>
                        <a:t>Analyzes</a:t>
                      </a:r>
                      <a:r>
                        <a:rPr lang="en-IN" sz="1800" dirty="0">
                          <a:effectLst/>
                          <a:latin typeface="Times New Roman" panose="02020603050405020304" pitchFamily="18" charset="0"/>
                          <a:cs typeface="Times New Roman" panose="02020603050405020304" pitchFamily="18" charset="0"/>
                        </a:rPr>
                        <a:t> different note-taking applications and their specific features in managing and organizing scientific data.</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037099">
                <a:tc>
                  <a:txBody>
                    <a:bodyPr/>
                    <a:lstStyle/>
                    <a:p>
                      <a:pPr algn="ctr"/>
                      <a:r>
                        <a:rPr lang="en-US" sz="1800">
                          <a:effectLst/>
                          <a:latin typeface="Times New Roman" panose="02020603050405020304" pitchFamily="18" charset="0"/>
                          <a:cs typeface="Times New Roman" panose="02020603050405020304" pitchFamily="18" charset="0"/>
                        </a:rPr>
                        <a:t>2</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US" sz="1800">
                          <a:effectLst/>
                          <a:latin typeface="Times New Roman" panose="02020603050405020304" pitchFamily="18" charset="0"/>
                          <a:cs typeface="Times New Roman" panose="02020603050405020304" pitchFamily="18" charset="0"/>
                        </a:rPr>
                        <a:t>College Lecture Notes Management System</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US" sz="1800">
                          <a:effectLst/>
                          <a:latin typeface="Times New Roman" panose="02020603050405020304" pitchFamily="18" charset="0"/>
                          <a:cs typeface="Times New Roman" panose="02020603050405020304" pitchFamily="18" charset="0"/>
                        </a:rPr>
                        <a:t>Dr. K. Sailaja, Chandrahas Reddy</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2023</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IN" sz="1800" dirty="0">
                          <a:effectLst/>
                          <a:latin typeface="Times New Roman" panose="02020603050405020304" pitchFamily="18" charset="0"/>
                          <a:cs typeface="Times New Roman" panose="02020603050405020304" pitchFamily="18" charset="0"/>
                        </a:rPr>
                        <a:t>Presents a proposed system designed specifically for managing, storing, and sharing college lecture notes digitally.</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037099">
                <a:tc>
                  <a:txBody>
                    <a:bodyPr/>
                    <a:lstStyle/>
                    <a:p>
                      <a:pPr algn="ctr"/>
                      <a:r>
                        <a:rPr lang="en-US" sz="1800">
                          <a:effectLst/>
                          <a:latin typeface="Times New Roman" panose="02020603050405020304" pitchFamily="18" charset="0"/>
                          <a:cs typeface="Times New Roman" panose="02020603050405020304" pitchFamily="18" charset="0"/>
                        </a:rPr>
                        <a:t>3</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IN" sz="1800">
                          <a:effectLst/>
                          <a:latin typeface="Times New Roman" panose="02020603050405020304" pitchFamily="18" charset="0"/>
                          <a:cs typeface="Times New Roman" panose="02020603050405020304" pitchFamily="18" charset="0"/>
                        </a:rPr>
                        <a:t>Note Taking in Teaching Literature</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US" sz="1800">
                          <a:effectLst/>
                          <a:latin typeface="Times New Roman" panose="02020603050405020304" pitchFamily="18" charset="0"/>
                          <a:cs typeface="Times New Roman" panose="02020603050405020304" pitchFamily="18" charset="0"/>
                        </a:rPr>
                        <a:t>Istabraq Tariq Alazzawi, Marwah Shihab Yaqoob, Saeed Rawdan Abdallah</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2023</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IN" sz="1800" dirty="0" err="1">
                          <a:effectLst/>
                          <a:latin typeface="Times New Roman" panose="02020603050405020304" pitchFamily="18" charset="0"/>
                          <a:cs typeface="Times New Roman" panose="02020603050405020304" pitchFamily="18" charset="0"/>
                        </a:rPr>
                        <a:t>Analyzes</a:t>
                      </a:r>
                      <a:r>
                        <a:rPr lang="en-IN" sz="1800" dirty="0">
                          <a:effectLst/>
                          <a:latin typeface="Times New Roman" panose="02020603050405020304" pitchFamily="18" charset="0"/>
                          <a:cs typeface="Times New Roman" panose="02020603050405020304" pitchFamily="18" charset="0"/>
                        </a:rPr>
                        <a:t> how structured note-taking improves memory retention, understanding, and overall learning efficiency.</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311625">
                <a:tc>
                  <a:txBody>
                    <a:bodyPr/>
                    <a:lstStyle/>
                    <a:p>
                      <a:pPr algn="ctr"/>
                      <a:r>
                        <a:rPr lang="en-US" sz="1800" dirty="0">
                          <a:effectLst/>
                          <a:latin typeface="Times New Roman" panose="02020603050405020304" pitchFamily="18" charset="0"/>
                          <a:cs typeface="Times New Roman" panose="02020603050405020304" pitchFamily="18" charset="0"/>
                        </a:rPr>
                        <a:t>4</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IN" sz="1800">
                          <a:effectLst/>
                          <a:latin typeface="Times New Roman" panose="02020603050405020304" pitchFamily="18" charset="0"/>
                          <a:cs typeface="Times New Roman" panose="02020603050405020304" pitchFamily="18" charset="0"/>
                        </a:rPr>
                        <a:t>Review on Existing Note Taking and Task Management Apps</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US" sz="1800">
                          <a:effectLst/>
                          <a:latin typeface="Times New Roman" panose="02020603050405020304" pitchFamily="18" charset="0"/>
                          <a:cs typeface="Times New Roman" panose="02020603050405020304" pitchFamily="18" charset="0"/>
                        </a:rPr>
                        <a:t>Abhijith L. Kotian</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2024</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a:r>
                        <a:rPr lang="en-IN" sz="1800" dirty="0">
                          <a:effectLst/>
                          <a:latin typeface="Times New Roman" panose="02020603050405020304" pitchFamily="18" charset="0"/>
                          <a:cs typeface="Times New Roman" panose="02020603050405020304" pitchFamily="18" charset="0"/>
                        </a:rPr>
                        <a:t>Reviews various modern note-taking and task management applications available in the market and identifies their limitations.</a:t>
                      </a:r>
                    </a:p>
                  </a:txBody>
                  <a:tcPr marL="34755" marR="34755" marT="34755" marB="3475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1775387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765280849"/>
              </p:ext>
            </p:extLst>
          </p:nvPr>
        </p:nvGraphicFramePr>
        <p:xfrm>
          <a:off x="954740" y="779929"/>
          <a:ext cx="10152531" cy="5219169"/>
        </p:xfrm>
        <a:graphic>
          <a:graphicData uri="http://schemas.openxmlformats.org/drawingml/2006/table">
            <a:tbl>
              <a:tblPr/>
              <a:tblGrid>
                <a:gridCol w="914401"/>
                <a:gridCol w="2998694"/>
                <a:gridCol w="1667436"/>
                <a:gridCol w="699247"/>
                <a:gridCol w="3872753"/>
              </a:tblGrid>
              <a:tr h="327495">
                <a:tc>
                  <a:txBody>
                    <a:bodyPr/>
                    <a:lstStyle/>
                    <a:p>
                      <a:pPr algn="ctr"/>
                      <a:r>
                        <a:rPr lang="en-US" sz="1800" dirty="0">
                          <a:effectLst/>
                          <a:latin typeface="Times New Roman" panose="02020603050405020304" pitchFamily="18" charset="0"/>
                          <a:cs typeface="Times New Roman" panose="02020603050405020304" pitchFamily="18" charset="0"/>
                        </a:rPr>
                        <a:t>Sr. No.</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800">
                          <a:effectLst/>
                          <a:latin typeface="Times New Roman" panose="02020603050405020304" pitchFamily="18" charset="0"/>
                          <a:cs typeface="Times New Roman" panose="02020603050405020304" pitchFamily="18" charset="0"/>
                        </a:rPr>
                        <a:t>Paper Title</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800">
                          <a:effectLst/>
                          <a:latin typeface="Times New Roman" panose="02020603050405020304" pitchFamily="18" charset="0"/>
                          <a:cs typeface="Times New Roman" panose="02020603050405020304" pitchFamily="18" charset="0"/>
                        </a:rPr>
                        <a:t>Author(s)</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a:r>
                        <a:rPr lang="en-US" sz="1800">
                          <a:effectLst/>
                          <a:latin typeface="Times New Roman" panose="02020603050405020304" pitchFamily="18" charset="0"/>
                          <a:cs typeface="Times New Roman" panose="02020603050405020304" pitchFamily="18" charset="0"/>
                        </a:rPr>
                        <a:t>Year</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800">
                          <a:effectLst/>
                          <a:latin typeface="Times New Roman" panose="02020603050405020304" pitchFamily="18" charset="0"/>
                          <a:cs typeface="Times New Roman" panose="02020603050405020304" pitchFamily="18" charset="0"/>
                        </a:rPr>
                        <a:t>Description</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r>
              <a:tr h="1120069">
                <a:tc>
                  <a:txBody>
                    <a:bodyPr/>
                    <a:lstStyle/>
                    <a:p>
                      <a:pPr algn="ctr"/>
                      <a:r>
                        <a:rPr lang="en-US" sz="1800">
                          <a:effectLst/>
                          <a:latin typeface="Times New Roman" panose="02020603050405020304" pitchFamily="18" charset="0"/>
                          <a:cs typeface="Times New Roman" panose="02020603050405020304" pitchFamily="18" charset="0"/>
                        </a:rPr>
                        <a:t>5</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Aims and Methods of Note-Taking</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Turkan, Mehraj, Ismailli</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2024</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Explores the core objectives of note-taking and evaluates different methodologies used by students to capture information effectively.</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238703">
                <a:tc>
                  <a:txBody>
                    <a:bodyPr/>
                    <a:lstStyle/>
                    <a:p>
                      <a:pPr algn="ctr"/>
                      <a:r>
                        <a:rPr lang="en-US" sz="1800">
                          <a:effectLst/>
                          <a:latin typeface="Times New Roman" panose="02020603050405020304" pitchFamily="18" charset="0"/>
                          <a:cs typeface="Times New Roman" panose="02020603050405020304" pitchFamily="18" charset="0"/>
                        </a:rPr>
                        <a:t>6</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Digital Note-Taking in Lectures: A Study on Learning Environment</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S. Johnson, A. Lee</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2024</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Investigates the impact of digital note-taking tools on student engagement and the overall collaborative learning environment.</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238703">
                <a:tc>
                  <a:txBody>
                    <a:bodyPr/>
                    <a:lstStyle/>
                    <a:p>
                      <a:pPr algn="ctr"/>
                      <a:r>
                        <a:rPr lang="en-US" sz="1800">
                          <a:effectLst/>
                          <a:latin typeface="Times New Roman" panose="02020603050405020304" pitchFamily="18" charset="0"/>
                          <a:cs typeface="Times New Roman" panose="02020603050405020304" pitchFamily="18" charset="0"/>
                        </a:rPr>
                        <a:t>7</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The Impact of Cloud-Based Collaborative Platforms on Student Academic Performance</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R. Martinez, T. Chen</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2023</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Discusses how centralized, cloud-based platforms improve resource sharing, accessibility, and peer-to-peer collaborative learning.</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238703">
                <a:tc>
                  <a:txBody>
                    <a:bodyPr/>
                    <a:lstStyle/>
                    <a:p>
                      <a:pPr algn="ctr"/>
                      <a:r>
                        <a:rPr lang="en-US" sz="1800" dirty="0">
                          <a:effectLst/>
                          <a:latin typeface="Times New Roman" panose="02020603050405020304" pitchFamily="18" charset="0"/>
                          <a:cs typeface="Times New Roman" panose="02020603050405020304" pitchFamily="18" charset="0"/>
                        </a:rPr>
                        <a:t>8</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Artificial Intelligence in Digital Education: Automated Quality Assessment</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H. Kim, P. Sharma</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2024</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cs typeface="Times New Roman" panose="02020603050405020304" pitchFamily="18" charset="0"/>
                        </a:rPr>
                        <a:t>Examines the integration of AI models to verify academic content, detect plagiarism, and improve the reliability of shared educational materials.</a:t>
                      </a:r>
                    </a:p>
                  </a:txBody>
                  <a:tcPr marL="32865" marR="32865" marT="32865" marB="3286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229802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E4A3F1-A462-B2D0-FB52-997E81907362}"/>
              </a:ext>
            </a:extLst>
          </p:cNvPr>
          <p:cNvSpPr>
            <a:spLocks noGrp="1"/>
          </p:cNvSpPr>
          <p:nvPr>
            <p:ph type="title"/>
          </p:nvPr>
        </p:nvSpPr>
        <p:spPr>
          <a:xfrm>
            <a:off x="825170" y="277129"/>
            <a:ext cx="10528630" cy="1325563"/>
          </a:xfrm>
        </p:spPr>
        <p:txBody>
          <a:bodyPr>
            <a:normAutofit/>
          </a:bodyPr>
          <a:lstStyle/>
          <a:p>
            <a:r>
              <a:rPr lang="en-IN" sz="4000" dirty="0">
                <a:latin typeface="Times New Roman" panose="02020603050405020304" pitchFamily="18" charset="0"/>
                <a:cs typeface="Times New Roman" panose="02020603050405020304" pitchFamily="18" charset="0"/>
              </a:rPr>
              <a:t> </a:t>
            </a:r>
            <a:r>
              <a:rPr lang="en-IN" sz="4000" dirty="0">
                <a:solidFill>
                  <a:srgbClr val="000000"/>
                </a:solidFill>
                <a:latin typeface="Times New Roman" panose="02020603050405020304" pitchFamily="18" charset="0"/>
                <a:cs typeface="Times New Roman" panose="02020603050405020304" pitchFamily="18" charset="0"/>
              </a:rPr>
              <a:t>Literature Review – Research Gap</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3222D41-80F2-2916-FB3B-79BA6F2E50D3}"/>
              </a:ext>
            </a:extLst>
          </p:cNvPr>
          <p:cNvSpPr>
            <a:spLocks noGrp="1"/>
          </p:cNvSpPr>
          <p:nvPr>
            <p:ph idx="1"/>
          </p:nvPr>
        </p:nvSpPr>
        <p:spPr>
          <a:xfrm>
            <a:off x="825170" y="1825625"/>
            <a:ext cx="10528630" cy="4351338"/>
          </a:xfrm>
        </p:spPr>
        <p:txBody>
          <a:bodyPr>
            <a:noAutofit/>
          </a:bodyPr>
          <a:lstStyle/>
          <a:p>
            <a:r>
              <a:rPr lang="en-US" sz="2000" b="1" dirty="0">
                <a:latin typeface="Times New Roman" panose="02020603050405020304" pitchFamily="18" charset="0"/>
                <a:cs typeface="Times New Roman" panose="02020603050405020304" pitchFamily="18" charset="0"/>
              </a:rPr>
              <a:t>Research Gaps Identified:</a:t>
            </a:r>
            <a:endParaRPr lang="en-US" sz="2000" dirty="0">
              <a:latin typeface="Times New Roman" panose="02020603050405020304" pitchFamily="18" charset="0"/>
              <a:cs typeface="Times New Roman" panose="02020603050405020304" pitchFamily="18" charset="0"/>
            </a:endParaRPr>
          </a:p>
          <a:p>
            <a:pPr lvl="1"/>
            <a:r>
              <a:rPr lang="en-US" sz="1800" b="1" dirty="0">
                <a:latin typeface="Times New Roman" panose="02020603050405020304" pitchFamily="18" charset="0"/>
                <a:cs typeface="Times New Roman" panose="02020603050405020304" pitchFamily="18" charset="0"/>
              </a:rPr>
              <a:t>Trust &amp; Authenticity Issues:</a:t>
            </a:r>
            <a:r>
              <a:rPr lang="en-US" sz="1800" dirty="0">
                <a:latin typeface="Times New Roman" panose="02020603050405020304" pitchFamily="18" charset="0"/>
                <a:cs typeface="Times New Roman" panose="02020603050405020304" pitchFamily="18" charset="0"/>
              </a:rPr>
              <a:t> Existing informal channels (WhatsApp, Telegram) lack administrator-mediated verification, leading to significant trust issues regarding source authenticity.</a:t>
            </a:r>
          </a:p>
          <a:p>
            <a:pPr lvl="1"/>
            <a:r>
              <a:rPr lang="en-US" sz="1800" b="1" dirty="0">
                <a:latin typeface="Times New Roman" panose="02020603050405020304" pitchFamily="18" charset="0"/>
                <a:cs typeface="Times New Roman" panose="02020603050405020304" pitchFamily="18" charset="0"/>
              </a:rPr>
              <a:t>Fragmented Organization:</a:t>
            </a:r>
            <a:r>
              <a:rPr lang="en-US" sz="1800" dirty="0">
                <a:latin typeface="Times New Roman" panose="02020603050405020304" pitchFamily="18" charset="0"/>
                <a:cs typeface="Times New Roman" panose="02020603050405020304" pitchFamily="18" charset="0"/>
              </a:rPr>
              <a:t> Generic cloud platforms and informal folders suffer from inconsistent metadata and lack a durable, searchable organizational structure for academic resources.</a:t>
            </a:r>
          </a:p>
          <a:p>
            <a:pPr lvl="1"/>
            <a:r>
              <a:rPr lang="en-US" sz="1800" b="1" dirty="0">
                <a:latin typeface="Times New Roman" panose="02020603050405020304" pitchFamily="18" charset="0"/>
                <a:cs typeface="Times New Roman" panose="02020603050405020304" pitchFamily="18" charset="0"/>
              </a:rPr>
              <a:t>AI "Hallucinations" in Education:</a:t>
            </a:r>
            <a:r>
              <a:rPr lang="en-US" sz="1800" dirty="0">
                <a:latin typeface="Times New Roman" panose="02020603050405020304" pitchFamily="18" charset="0"/>
                <a:cs typeface="Times New Roman" panose="02020603050405020304" pitchFamily="18" charset="0"/>
              </a:rPr>
              <a:t> Standard Large Language Models (LLMs) often generate factually incorrect information because they lack specific, localized institutional context.</a:t>
            </a:r>
          </a:p>
          <a:p>
            <a:pPr lvl="1"/>
            <a:r>
              <a:rPr lang="en-US" sz="1800" b="1" dirty="0">
                <a:latin typeface="Times New Roman" panose="02020603050405020304" pitchFamily="18" charset="0"/>
                <a:cs typeface="Times New Roman" panose="02020603050405020304" pitchFamily="18" charset="0"/>
              </a:rPr>
              <a:t>The "Cold Start" Problem:</a:t>
            </a:r>
            <a:r>
              <a:rPr lang="en-US" sz="1800" dirty="0">
                <a:latin typeface="Times New Roman" panose="02020603050405020304" pitchFamily="18" charset="0"/>
                <a:cs typeface="Times New Roman" panose="02020603050405020304" pitchFamily="18" charset="0"/>
              </a:rPr>
              <a:t> New student cohorts frequently lack easy access to historical academic materials and exam patterns from previous generations.</a:t>
            </a:r>
          </a:p>
          <a:p>
            <a:pPr lvl="1"/>
            <a:r>
              <a:rPr lang="en-US" sz="1800" b="1" dirty="0">
                <a:latin typeface="Times New Roman" panose="02020603050405020304" pitchFamily="18" charset="0"/>
                <a:cs typeface="Times New Roman" panose="02020603050405020304" pitchFamily="18" charset="0"/>
              </a:rPr>
              <a:t>Content Integrity:</a:t>
            </a:r>
            <a:r>
              <a:rPr lang="en-US" sz="1800" dirty="0">
                <a:latin typeface="Times New Roman" panose="02020603050405020304" pitchFamily="18" charset="0"/>
                <a:cs typeface="Times New Roman" panose="02020603050405020304" pitchFamily="18" charset="0"/>
              </a:rPr>
              <a:t> Peer-to-peer networks often lead to the proliferation of low-quality, outdated, or plagiarized academic content without quality control.</a:t>
            </a:r>
          </a:p>
          <a:p>
            <a:r>
              <a:rPr lang="en-US" sz="2000" b="1" dirty="0">
                <a:latin typeface="Times New Roman" panose="02020603050405020304" pitchFamily="18" charset="0"/>
                <a:cs typeface="Times New Roman" panose="02020603050405020304" pitchFamily="18" charset="0"/>
              </a:rPr>
              <a:t>Need for Proposed System:</a:t>
            </a:r>
            <a:endParaRPr lang="en-US" sz="20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An intelligent, centralized platform like </a:t>
            </a:r>
            <a:r>
              <a:rPr lang="en-US" sz="1800" b="1" dirty="0">
                <a:latin typeface="Times New Roman" panose="02020603050405020304" pitchFamily="18" charset="0"/>
                <a:cs typeface="Times New Roman" panose="02020603050405020304" pitchFamily="18" charset="0"/>
              </a:rPr>
              <a:t>Notehub</a:t>
            </a:r>
            <a:r>
              <a:rPr lang="en-US" sz="1800" dirty="0">
                <a:latin typeface="Times New Roman" panose="02020603050405020304" pitchFamily="18" charset="0"/>
                <a:cs typeface="Times New Roman" panose="02020603050405020304" pitchFamily="18" charset="0"/>
              </a:rPr>
              <a:t> is required to establish an "academic single source of truth." By integrating dual-layered AI verification and a Retrieval-Augmented Generation (RAG) architecture, the system ensures that shared knowledge is authenticated, grounded, and organized for long-term collaborative learning.</a:t>
            </a:r>
          </a:p>
        </p:txBody>
      </p:sp>
    </p:spTree>
    <p:extLst>
      <p:ext uri="{BB962C8B-B14F-4D97-AF65-F5344CB8AC3E}">
        <p14:creationId xmlns:p14="http://schemas.microsoft.com/office/powerpoint/2010/main" val="18145512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Diagonal Corners Rounded 4">
            <a:extLst>
              <a:ext uri="{FF2B5EF4-FFF2-40B4-BE49-F238E27FC236}">
                <a16:creationId xmlns:a16="http://schemas.microsoft.com/office/drawing/2014/main" xmlns="" id="{0491CBE5-022E-DD6D-0991-396C2CCBBF95}"/>
              </a:ext>
            </a:extLst>
          </p:cNvPr>
          <p:cNvSpPr/>
          <p:nvPr/>
        </p:nvSpPr>
        <p:spPr>
          <a:xfrm>
            <a:off x="590309" y="1724628"/>
            <a:ext cx="11076573" cy="3938235"/>
          </a:xfrm>
          <a:prstGeom prst="round2Diag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eaLnBrk="0" fontAlgn="base" hangingPunct="0">
              <a:lnSpc>
                <a:spcPct val="150000"/>
              </a:lnSpc>
              <a:spcBef>
                <a:spcPct val="0"/>
              </a:spcBef>
              <a:spcAft>
                <a:spcPct val="0"/>
              </a:spcAft>
            </a:pPr>
            <a:r>
              <a:rPr lang="en-IN" sz="4000" dirty="0">
                <a:ln w="0"/>
                <a:solidFill>
                  <a:schemeClr val="tx1"/>
                </a:solidFill>
                <a:latin typeface="Times New Roman" panose="02020603050405020304" pitchFamily="18" charset="0"/>
                <a:cs typeface="Times New Roman" panose="02020603050405020304" pitchFamily="18" charset="0"/>
              </a:rPr>
              <a:t>Proposed Solution</a:t>
            </a:r>
          </a:p>
          <a:p>
            <a:pPr algn="just" eaLnBrk="0" fontAlgn="base" hangingPunct="0">
              <a:lnSpc>
                <a:spcPct val="150000"/>
              </a:lnSpc>
              <a:spcBef>
                <a:spcPct val="0"/>
              </a:spcBef>
              <a:spcAft>
                <a:spcPct val="0"/>
              </a:spcAft>
            </a:pPr>
            <a:endParaRPr lang="en-US" sz="11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Centralized Knowledge Hub</a:t>
            </a:r>
            <a:r>
              <a:rPr lang="en-US" sz="2000" dirty="0">
                <a:latin typeface="Times New Roman" panose="02020603050405020304" pitchFamily="18" charset="0"/>
                <a:cs typeface="Times New Roman" panose="02020603050405020304" pitchFamily="18" charset="0"/>
              </a:rPr>
              <a:t>: A single platform for students to securely upload, organize, and search for high-quality study materials.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AI-Powered Verification</a:t>
            </a:r>
            <a:r>
              <a:rPr lang="en-US" sz="2000" dirty="0">
                <a:latin typeface="Times New Roman" panose="02020603050405020304" pitchFamily="18" charset="0"/>
                <a:cs typeface="Times New Roman" panose="02020603050405020304" pitchFamily="18" charset="0"/>
              </a:rPr>
              <a:t>: Automatically checks for plagiarism and content quality while preventing duplicate uploads.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Fact-Checked AI Assistant</a:t>
            </a:r>
            <a:r>
              <a:rPr lang="en-US" sz="2000" dirty="0">
                <a:latin typeface="Times New Roman" panose="02020603050405020304" pitchFamily="18" charset="0"/>
                <a:cs typeface="Times New Roman" panose="02020603050405020304" pitchFamily="18" charset="0"/>
              </a:rPr>
              <a:t>: A specialized </a:t>
            </a:r>
            <a:r>
              <a:rPr lang="en-US" sz="2000" dirty="0" err="1">
                <a:latin typeface="Times New Roman" panose="02020603050405020304" pitchFamily="18" charset="0"/>
                <a:cs typeface="Times New Roman" panose="02020603050405020304" pitchFamily="18" charset="0"/>
              </a:rPr>
              <a:t>chatbot</a:t>
            </a:r>
            <a:r>
              <a:rPr lang="en-US" sz="2000" dirty="0">
                <a:latin typeface="Times New Roman" panose="02020603050405020304" pitchFamily="18" charset="0"/>
                <a:cs typeface="Times New Roman" panose="02020603050405020304" pitchFamily="18" charset="0"/>
              </a:rPr>
              <a:t> that provides answers grounded </a:t>
            </a:r>
            <a:r>
              <a:rPr lang="en-US" sz="2000" i="1" dirty="0">
                <a:latin typeface="Times New Roman" panose="02020603050405020304" pitchFamily="18" charset="0"/>
                <a:cs typeface="Times New Roman" panose="02020603050405020304" pitchFamily="18" charset="0"/>
              </a:rPr>
              <a:t>only</a:t>
            </a:r>
            <a:r>
              <a:rPr lang="en-US" sz="2000" dirty="0">
                <a:latin typeface="Times New Roman" panose="02020603050405020304" pitchFamily="18" charset="0"/>
                <a:cs typeface="Times New Roman" panose="02020603050405020304" pitchFamily="18" charset="0"/>
              </a:rPr>
              <a:t> in verified notes to ensure 100% accuracy.</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Admin-Mediated Quality Control</a:t>
            </a:r>
            <a:r>
              <a:rPr lang="en-US" sz="2000" dirty="0">
                <a:latin typeface="Times New Roman" panose="02020603050405020304" pitchFamily="18" charset="0"/>
                <a:cs typeface="Times New Roman" panose="02020603050405020304" pitchFamily="18" charset="0"/>
              </a:rPr>
              <a:t>: Every document is reviewed by an administrator to maintain high academic standards.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Smart AI Routing</a:t>
            </a:r>
            <a:r>
              <a:rPr lang="en-US" sz="2000" dirty="0">
                <a:latin typeface="Times New Roman" panose="02020603050405020304" pitchFamily="18" charset="0"/>
                <a:cs typeface="Times New Roman" panose="02020603050405020304" pitchFamily="18" charset="0"/>
              </a:rPr>
              <a:t>: Uses multiple AI models (Gemini, Mistral, etc.) to ensure the system is always fast and reliable.</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Gamified Learning</a:t>
            </a:r>
            <a:r>
              <a:rPr lang="en-US" sz="2000" dirty="0">
                <a:latin typeface="Times New Roman" panose="02020603050405020304" pitchFamily="18" charset="0"/>
                <a:cs typeface="Times New Roman" panose="02020603050405020304" pitchFamily="18" charset="0"/>
              </a:rPr>
              <a:t>: A points-based leaderboard that rewards students for sharing quality notes and helping others.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Real-Time Collaboration</a:t>
            </a:r>
            <a:r>
              <a:rPr lang="en-US" sz="2000" dirty="0">
                <a:latin typeface="Times New Roman" panose="02020603050405020304" pitchFamily="18" charset="0"/>
                <a:cs typeface="Times New Roman" panose="02020603050405020304" pitchFamily="18" charset="0"/>
              </a:rPr>
              <a:t>: Integrated chat rooms and instant cloud sync for seamless peer-to-peer learning.</a:t>
            </a:r>
          </a:p>
          <a:p>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endParaRPr lang="en-US" altLang="en-US"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3455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68697090"/>
              </p:ext>
            </p:extLst>
          </p:nvPr>
        </p:nvGraphicFramePr>
        <p:xfrm>
          <a:off x="793376" y="349623"/>
          <a:ext cx="10623177" cy="6210127"/>
        </p:xfrm>
        <a:graphic>
          <a:graphicData uri="http://schemas.openxmlformats.org/drawingml/2006/table">
            <a:tbl>
              <a:tblPr/>
              <a:tblGrid>
                <a:gridCol w="2816964"/>
                <a:gridCol w="4078290"/>
                <a:gridCol w="3727923"/>
              </a:tblGrid>
              <a:tr h="477871">
                <a:tc>
                  <a:txBody>
                    <a:bodyPr/>
                    <a:lstStyle/>
                    <a:p>
                      <a:pPr algn="l"/>
                      <a:r>
                        <a:rPr lang="en-US" sz="1800" dirty="0">
                          <a:effectLst/>
                          <a:latin typeface="Times New Roman" panose="02020603050405020304" pitchFamily="18" charset="0"/>
                          <a:cs typeface="Times New Roman" panose="02020603050405020304" pitchFamily="18" charset="0"/>
                        </a:rPr>
                        <a:t>Feature</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800" dirty="0">
                          <a:effectLst/>
                          <a:latin typeface="Times New Roman" panose="02020603050405020304" pitchFamily="18" charset="0"/>
                          <a:cs typeface="Times New Roman" panose="02020603050405020304" pitchFamily="18" charset="0"/>
                        </a:rPr>
                        <a:t>Existing System (LMS / Social Media)</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800">
                          <a:effectLst/>
                          <a:latin typeface="Times New Roman" panose="02020603050405020304" pitchFamily="18" charset="0"/>
                          <a:cs typeface="Times New Roman" panose="02020603050405020304" pitchFamily="18" charset="0"/>
                        </a:rPr>
                        <a:t>Our System (Notehub)</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r>
              <a:tr h="601327">
                <a:tc>
                  <a:txBody>
                    <a:bodyPr/>
                    <a:lstStyle/>
                    <a:p>
                      <a:pPr algn="l"/>
                      <a:r>
                        <a:rPr lang="en-US" sz="1800" b="1">
                          <a:effectLst/>
                          <a:latin typeface="Times New Roman" panose="02020603050405020304" pitchFamily="18" charset="0"/>
                          <a:cs typeface="Times New Roman" panose="02020603050405020304" pitchFamily="18" charset="0"/>
                        </a:rPr>
                        <a:t>1. Content Verification</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Manual or None (Prone to errors/fake notes)</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AI-powered dual-layered verification</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a:effectLst/>
                          <a:latin typeface="Times New Roman" panose="02020603050405020304" pitchFamily="18" charset="0"/>
                          <a:cs typeface="Times New Roman" panose="02020603050405020304" pitchFamily="18" charset="0"/>
                        </a:rPr>
                        <a:t>2. Organization</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Messy folders and fragmented chat history</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Structured, searchable "Source of Truth"</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a:effectLst/>
                          <a:latin typeface="Times New Roman" panose="02020603050405020304" pitchFamily="18" charset="0"/>
                          <a:cs typeface="Times New Roman" panose="02020603050405020304" pitchFamily="18" charset="0"/>
                        </a:rPr>
                        <a:t>3. AI Intelligence</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Generic search or no integrated AI</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RAG-based AI with institutional context</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a:effectLst/>
                          <a:latin typeface="Times New Roman" panose="02020603050405020304" pitchFamily="18" charset="0"/>
                          <a:cs typeface="Times New Roman" panose="02020603050405020304" pitchFamily="18" charset="0"/>
                        </a:rPr>
                        <a:t>4. Data Integrity</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High risk of plagiarism and outdated files</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Built-in plagiarism &amp; SHA-256 integrity check</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a:effectLst/>
                          <a:latin typeface="Times New Roman" panose="02020603050405020304" pitchFamily="18" charset="0"/>
                          <a:cs typeface="Times New Roman" panose="02020603050405020304" pitchFamily="18" charset="0"/>
                        </a:rPr>
                        <a:t>5. User Engagement</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dirty="0">
                          <a:effectLst/>
                          <a:latin typeface="Times New Roman" panose="02020603050405020304" pitchFamily="18" charset="0"/>
                          <a:cs typeface="Times New Roman" panose="02020603050405020304" pitchFamily="18" charset="0"/>
                        </a:rPr>
                        <a:t>Low (Passive reading/viewing)</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High (Gamification &amp; Leaderboards)</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a:effectLst/>
                          <a:latin typeface="Times New Roman" panose="02020603050405020304" pitchFamily="18" charset="0"/>
                          <a:cs typeface="Times New Roman" panose="02020603050405020304" pitchFamily="18" charset="0"/>
                        </a:rPr>
                        <a:t>6. Storage Efficiency</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Redundant (Multiple copies of same file)</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Optimized (Cryptographic deduplication)</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a:effectLst/>
                          <a:latin typeface="Times New Roman" panose="02020603050405020304" pitchFamily="18" charset="0"/>
                          <a:cs typeface="Times New Roman" panose="02020603050405020304" pitchFamily="18" charset="0"/>
                        </a:rPr>
                        <a:t>7. Interaction</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dirty="0">
                          <a:effectLst/>
                          <a:latin typeface="Times New Roman" panose="02020603050405020304" pitchFamily="18" charset="0"/>
                          <a:cs typeface="Times New Roman" panose="02020603050405020304" pitchFamily="18" charset="0"/>
                        </a:rPr>
                        <a:t>Static (No intelligent assistant)</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Interactive AI Chatbot (Gemini/Mistral/Ollama)</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a:effectLst/>
                          <a:latin typeface="Times New Roman" panose="02020603050405020304" pitchFamily="18" charset="0"/>
                          <a:cs typeface="Times New Roman" panose="02020603050405020304" pitchFamily="18" charset="0"/>
                        </a:rPr>
                        <a:t>8. Accessibility</a:t>
                      </a:r>
                      <a:endParaRPr lang="en-US" sz="180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Generational "Cold Start" (cohorts lose data)</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a:effectLst/>
                          <a:latin typeface="Times New Roman" panose="02020603050405020304" pitchFamily="18" charset="0"/>
                          <a:cs typeface="Times New Roman" panose="02020603050405020304" pitchFamily="18" charset="0"/>
                        </a:rPr>
                        <a:t>Persistent, searchable historical repository</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01327">
                <a:tc>
                  <a:txBody>
                    <a:bodyPr/>
                    <a:lstStyle/>
                    <a:p>
                      <a:pPr algn="l"/>
                      <a:r>
                        <a:rPr lang="en-US" sz="1800" b="1" dirty="0">
                          <a:effectLst/>
                          <a:latin typeface="Times New Roman" panose="02020603050405020304" pitchFamily="18" charset="0"/>
                          <a:cs typeface="Times New Roman" panose="02020603050405020304" pitchFamily="18" charset="0"/>
                        </a:rPr>
                        <a:t>9. Platform Support</a:t>
                      </a:r>
                      <a:endParaRPr lang="en-US" sz="1800" dirty="0">
                        <a:effectLst/>
                        <a:latin typeface="Times New Roman" panose="02020603050405020304" pitchFamily="18" charset="0"/>
                        <a:cs typeface="Times New Roman" panose="02020603050405020304" pitchFamily="18" charset="0"/>
                      </a:endParaRP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800">
                          <a:effectLst/>
                          <a:latin typeface="Times New Roman" panose="02020603050405020304" pitchFamily="18" charset="0"/>
                          <a:cs typeface="Times New Roman" panose="02020603050405020304" pitchFamily="18" charset="0"/>
                        </a:rPr>
                        <a:t>Often fragmented across multiple apps</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800" dirty="0">
                          <a:effectLst/>
                          <a:latin typeface="Times New Roman" panose="02020603050405020304" pitchFamily="18" charset="0"/>
                          <a:cs typeface="Times New Roman" panose="02020603050405020304" pitchFamily="18" charset="0"/>
                        </a:rPr>
                        <a:t>Centralized Web + Android Integration</a:t>
                      </a:r>
                    </a:p>
                  </a:txBody>
                  <a:tcPr marL="49223" marR="49223" marT="49223" marB="49223"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810073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BBA13BBF-574A-4C55-E7DD-D845CECCBA78}"/>
              </a:ext>
            </a:extLst>
          </p:cNvPr>
          <p:cNvSpPr txBox="1"/>
          <p:nvPr/>
        </p:nvSpPr>
        <p:spPr>
          <a:xfrm>
            <a:off x="454716" y="123069"/>
            <a:ext cx="6097656" cy="707886"/>
          </a:xfrm>
          <a:prstGeom prst="rect">
            <a:avLst/>
          </a:prstGeom>
          <a:noFill/>
        </p:spPr>
        <p:txBody>
          <a:bodyPr wrap="square">
            <a:spAutoFit/>
          </a:bodyPr>
          <a:lstStyle/>
          <a:p>
            <a:r>
              <a:rPr lang="en-US" sz="4000" dirty="0">
                <a:latin typeface="Times New Roman" panose="02020603050405020304" pitchFamily="18" charset="0"/>
                <a:cs typeface="Times New Roman" panose="02020603050405020304" pitchFamily="18" charset="0"/>
              </a:rPr>
              <a:t>System Architecture</a:t>
            </a:r>
            <a:endParaRPr lang="en-IN" sz="4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716" y="1072723"/>
            <a:ext cx="11201400" cy="5523778"/>
          </a:xfrm>
          <a:prstGeom prst="rect">
            <a:avLst/>
          </a:prstGeom>
        </p:spPr>
      </p:pic>
    </p:spTree>
    <p:extLst>
      <p:ext uri="{BB962C8B-B14F-4D97-AF65-F5344CB8AC3E}">
        <p14:creationId xmlns:p14="http://schemas.microsoft.com/office/powerpoint/2010/main" val="36497577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192CA989-E02D-C971-2E48-855356E1A539}"/>
              </a:ext>
            </a:extLst>
          </p:cNvPr>
          <p:cNvSpPr txBox="1"/>
          <p:nvPr/>
        </p:nvSpPr>
        <p:spPr>
          <a:xfrm>
            <a:off x="7162564" y="386596"/>
            <a:ext cx="4778424" cy="5755422"/>
          </a:xfrm>
          <a:prstGeom prst="rect">
            <a:avLst/>
          </a:prstGeom>
          <a:noFill/>
        </p:spPr>
        <p:txBody>
          <a:bodyPr wrap="square">
            <a:spAutoFit/>
          </a:bodyPr>
          <a:lstStyle/>
          <a:p>
            <a:r>
              <a:rPr lang="en-IN" sz="1600" b="1" dirty="0" smtClean="0">
                <a:latin typeface="Times New Roman" panose="02020603050405020304" pitchFamily="18" charset="0"/>
                <a:cs typeface="Times New Roman" panose="02020603050405020304" pitchFamily="18" charset="0"/>
              </a:rPr>
              <a:t>6</a:t>
            </a:r>
            <a:r>
              <a:rPr lang="en-IN" sz="1600" b="1" dirty="0">
                <a:latin typeface="Times New Roman" panose="02020603050405020304" pitchFamily="18" charset="0"/>
                <a:cs typeface="Times New Roman" panose="02020603050405020304" pitchFamily="18" charset="0"/>
              </a:rPr>
              <a:t>. Services (Note Engine, Gamification, Security)</a:t>
            </a:r>
            <a:r>
              <a:rPr lang="en-IN" sz="1600" dirty="0">
                <a:latin typeface="Times New Roman" panose="02020603050405020304" pitchFamily="18" charset="0"/>
                <a:cs typeface="Times New Roman" panose="02020603050405020304" pitchFamily="18" charset="0"/>
              </a:rPr>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These are the internal micro-modules that handle specific platform rules. For example, the security module runs the anti-plagiarism checks, while Gamification calculates the "Departmental Flare" </a:t>
            </a:r>
            <a:r>
              <a:rPr lang="en-IN" sz="1600" dirty="0" err="1">
                <a:latin typeface="Times New Roman" panose="02020603050405020304" pitchFamily="18" charset="0"/>
                <a:cs typeface="Times New Roman" panose="02020603050405020304" pitchFamily="18" charset="0"/>
              </a:rPr>
              <a:t>leaderboard</a:t>
            </a:r>
            <a:r>
              <a:rPr lang="en-IN" sz="1600" dirty="0">
                <a:latin typeface="Times New Roman" panose="02020603050405020304" pitchFamily="18" charset="0"/>
                <a:cs typeface="Times New Roman" panose="02020603050405020304" pitchFamily="18" charset="0"/>
              </a:rPr>
              <a:t> scores.</a:t>
            </a:r>
          </a:p>
          <a:p>
            <a:r>
              <a:rPr lang="en-IN" sz="1600" b="1" dirty="0">
                <a:latin typeface="Times New Roman" panose="02020603050405020304" pitchFamily="18" charset="0"/>
                <a:cs typeface="Times New Roman" panose="02020603050405020304" pitchFamily="18" charset="0"/>
              </a:rPr>
              <a:t>7. PostgreSQL Database</a:t>
            </a:r>
            <a:r>
              <a:rPr lang="en-IN" sz="1600" dirty="0">
                <a:latin typeface="Times New Roman" panose="02020603050405020304" pitchFamily="18" charset="0"/>
                <a:cs typeface="Times New Roman" panose="02020603050405020304" pitchFamily="18" charset="0"/>
              </a:rPr>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primary relational database where all structured information is stored permanently. This holds our user profiles, verified ID statuses, point tallies, and note metadata.</a:t>
            </a:r>
          </a:p>
          <a:p>
            <a:r>
              <a:rPr lang="en-IN" sz="1600" b="1" dirty="0">
                <a:latin typeface="Times New Roman" panose="02020603050405020304" pitchFamily="18" charset="0"/>
                <a:cs typeface="Times New Roman" panose="02020603050405020304" pitchFamily="18" charset="0"/>
              </a:rPr>
              <a:t>8. </a:t>
            </a:r>
            <a:r>
              <a:rPr lang="en-IN" sz="1600" b="1" dirty="0" err="1">
                <a:latin typeface="Times New Roman" panose="02020603050405020304" pitchFamily="18" charset="0"/>
                <a:cs typeface="Times New Roman" panose="02020603050405020304" pitchFamily="18" charset="0"/>
              </a:rPr>
              <a:t>Cloudinary</a:t>
            </a:r>
            <a:r>
              <a:rPr lang="en-IN" sz="1600" b="1" dirty="0">
                <a:latin typeface="Times New Roman" panose="02020603050405020304" pitchFamily="18" charset="0"/>
                <a:cs typeface="Times New Roman" panose="02020603050405020304" pitchFamily="18" charset="0"/>
              </a:rPr>
              <a:t> / Blob CDN</a:t>
            </a:r>
            <a:r>
              <a:rPr lang="en-IN" sz="1600" dirty="0">
                <a:latin typeface="Times New Roman" panose="02020603050405020304" pitchFamily="18" charset="0"/>
                <a:cs typeface="Times New Roman" panose="02020603050405020304" pitchFamily="18" charset="0"/>
              </a:rPr>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A high-speed cloud storage network for large media files. Instead of clogging our database, heavy PDF documents and uploaded ID images are stored securely here.</a:t>
            </a:r>
          </a:p>
          <a:p>
            <a:r>
              <a:rPr lang="en-IN" sz="1600" b="1" dirty="0">
                <a:latin typeface="Times New Roman" panose="02020603050405020304" pitchFamily="18" charset="0"/>
                <a:cs typeface="Times New Roman" panose="02020603050405020304" pitchFamily="18" charset="0"/>
              </a:rPr>
              <a:t>9. Open AI / Gemini (External LLMs)</a:t>
            </a:r>
            <a:r>
              <a:rPr lang="en-IN" sz="1600" dirty="0">
                <a:latin typeface="Times New Roman" panose="02020603050405020304" pitchFamily="18" charset="0"/>
                <a:cs typeface="Times New Roman" panose="02020603050405020304" pitchFamily="18" charset="0"/>
              </a:rPr>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External Large Language Model services that our backend talks to securely behind the scenes. They provide the "smarts" to generate dynamic quizzes, career roadmaps, and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physical PDF documents.</a:t>
            </a:r>
          </a:p>
          <a:p>
            <a:r>
              <a:rPr lang="en-IN" sz="1600" dirty="0">
                <a:latin typeface="Times New Roman" panose="02020603050405020304" pitchFamily="18" charset="0"/>
                <a:cs typeface="Times New Roman" panose="02020603050405020304" pitchFamily="18" charset="0"/>
              </a:rPr>
              <a:t/>
            </a:r>
            <a:br>
              <a:rPr lang="en-IN" sz="1600" dirty="0">
                <a:latin typeface="Times New Roman" panose="02020603050405020304" pitchFamily="18" charset="0"/>
                <a:cs typeface="Times New Roman" panose="02020603050405020304" pitchFamily="18" charset="0"/>
              </a:rPr>
            </a:br>
            <a:endParaRPr lang="en-US" altLang="en-US"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 name="TextBox 1"/>
          <p:cNvSpPr txBox="1"/>
          <p:nvPr/>
        </p:nvSpPr>
        <p:spPr>
          <a:xfrm>
            <a:off x="954740" y="386596"/>
            <a:ext cx="5741895" cy="618630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 React Web App (</a:t>
            </a:r>
            <a:r>
              <a:rPr lang="en-IN" b="1" dirty="0" err="1">
                <a:latin typeface="Times New Roman" panose="02020603050405020304" pitchFamily="18" charset="0"/>
                <a:cs typeface="Times New Roman" panose="02020603050405020304" pitchFamily="18" charset="0"/>
              </a:rPr>
              <a:t>Vite</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fast and responsive frontend framework that students directly interact with. It renders the entire user interface and handles lightweight browser logic.</a:t>
            </a:r>
          </a:p>
          <a:p>
            <a:r>
              <a:rPr lang="en-IN" b="1" dirty="0">
                <a:latin typeface="Times New Roman" panose="02020603050405020304" pitchFamily="18" charset="0"/>
                <a:cs typeface="Times New Roman" panose="02020603050405020304" pitchFamily="18" charset="0"/>
              </a:rPr>
              <a:t>2. Google OAuth Provider</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secure authentication gateway. It allows users to log into the platform safely using their existing Google accounts without us needing to store their passwords.</a:t>
            </a:r>
          </a:p>
          <a:p>
            <a:r>
              <a:rPr lang="en-IN" b="1" dirty="0">
                <a:latin typeface="Times New Roman" panose="02020603050405020304" pitchFamily="18" charset="0"/>
                <a:cs typeface="Times New Roman" panose="02020603050405020304" pitchFamily="18" charset="0"/>
              </a:rPr>
              <a:t>3. Nginx Reverse Proxy</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"traffic cop" of the architecture. It intercepts incoming internet traffic, blocks malicious requests, and securely routes user commands to the correct backend server.</a:t>
            </a:r>
          </a:p>
          <a:p>
            <a:r>
              <a:rPr lang="en-IN" b="1" dirty="0">
                <a:latin typeface="Times New Roman" panose="02020603050405020304" pitchFamily="18" charset="0"/>
                <a:cs typeface="Times New Roman" panose="02020603050405020304" pitchFamily="18" charset="0"/>
              </a:rPr>
              <a:t>4. Express.js REST API</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core backend application that handles all standard business logic. It processes file uploads, manages user accounts, and connects the frontend to our database and AI services.</a:t>
            </a:r>
          </a:p>
          <a:p>
            <a:r>
              <a:rPr lang="en-IN" b="1" dirty="0">
                <a:latin typeface="Times New Roman" panose="02020603050405020304" pitchFamily="18" charset="0"/>
                <a:cs typeface="Times New Roman" panose="02020603050405020304" pitchFamily="18" charset="0"/>
              </a:rPr>
              <a:t>5. Socket.IO Server</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dedicated backend channel specifically for real-time web connections. It keeps a persistent connection open to power ultra-low latency features like live document collaboration.</a:t>
            </a:r>
          </a:p>
          <a:p>
            <a:endParaRPr lang="en-US" dirty="0"/>
          </a:p>
        </p:txBody>
      </p:sp>
    </p:spTree>
    <p:extLst>
      <p:ext uri="{BB962C8B-B14F-4D97-AF65-F5344CB8AC3E}">
        <p14:creationId xmlns:p14="http://schemas.microsoft.com/office/powerpoint/2010/main" val="14731244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1A00A1E-F165-0C5D-675F-3CB5BBB52FC2}"/>
              </a:ext>
            </a:extLst>
          </p:cNvPr>
          <p:cNvSpPr>
            <a:spLocks noGrp="1"/>
          </p:cNvSpPr>
          <p:nvPr>
            <p:ph idx="1"/>
          </p:nvPr>
        </p:nvSpPr>
        <p:spPr>
          <a:xfrm>
            <a:off x="838200" y="2167468"/>
            <a:ext cx="10515600" cy="2606237"/>
          </a:xfrm>
        </p:spPr>
        <p:txBody>
          <a:bodyPr>
            <a:noAutofit/>
          </a:bodyPr>
          <a:lstStyle/>
          <a:p>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module serves as the core file-sharing ecosystem where students can upload, manage, and discover academic notes. A built-in security engine continuously checks uploaded documents against an internal database and the internet to prevent duplicate submissions and maintain strict academic integrity. </a:t>
            </a:r>
            <a:r>
              <a:rPr lang="en-IN" sz="2000" b="1" dirty="0">
                <a:latin typeface="Times New Roman" panose="02020603050405020304" pitchFamily="18" charset="0"/>
                <a:cs typeface="Times New Roman" panose="02020603050405020304" pitchFamily="18" charset="0"/>
              </a:rPr>
              <a:t>• Key Features:</a:t>
            </a:r>
            <a:r>
              <a:rPr lang="en-IN" sz="2000" dirty="0">
                <a:latin typeface="Times New Roman" panose="02020603050405020304" pitchFamily="18" charset="0"/>
                <a:cs typeface="Times New Roman" panose="02020603050405020304" pitchFamily="18" charset="0"/>
              </a:rPr>
              <a:t> • Secure PDF and Word document uploading • Automated text extraction mapping • Advanced </a:t>
            </a:r>
            <a:r>
              <a:rPr lang="en-IN" sz="2000" dirty="0" err="1">
                <a:latin typeface="Times New Roman" panose="02020603050405020304" pitchFamily="18" charset="0"/>
                <a:cs typeface="Times New Roman" panose="02020603050405020304" pitchFamily="18" charset="0"/>
              </a:rPr>
              <a:t>SimHash</a:t>
            </a:r>
            <a:r>
              <a:rPr lang="en-IN" sz="2000" dirty="0">
                <a:latin typeface="Times New Roman" panose="02020603050405020304" pitchFamily="18" charset="0"/>
                <a:cs typeface="Times New Roman" panose="02020603050405020304" pitchFamily="18" charset="0"/>
              </a:rPr>
              <a:t> plagiarism detection • Real-time duplicate content rejection • Integrated cloud storage for large media files</a:t>
            </a:r>
          </a:p>
          <a:p>
            <a:pPr algn="just"/>
            <a:endParaRPr lang="en-IN" sz="20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838200" y="338231"/>
            <a:ext cx="10515600" cy="1325563"/>
          </a:xfrm>
        </p:spPr>
        <p:txBody>
          <a:bodyPr>
            <a:normAutofit/>
          </a:bodyPr>
          <a:lstStyle/>
          <a:p>
            <a:r>
              <a:rPr lang="en-IN" sz="3600" dirty="0">
                <a:latin typeface="Times New Roman" panose="02020603050405020304" pitchFamily="18" charset="0"/>
                <a:cs typeface="Times New Roman" panose="02020603050405020304" pitchFamily="18" charset="0"/>
              </a:rPr>
              <a:t>Module 1: Note Management &amp; Plagiarism Detection</a:t>
            </a:r>
          </a:p>
        </p:txBody>
      </p:sp>
    </p:spTree>
    <p:extLst>
      <p:ext uri="{BB962C8B-B14F-4D97-AF65-F5344CB8AC3E}">
        <p14:creationId xmlns:p14="http://schemas.microsoft.com/office/powerpoint/2010/main" val="29139022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AFE990-D35E-5573-5E5C-B768C888D066}"/>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Module 2: Real-Time Collaboration</a:t>
            </a:r>
          </a:p>
        </p:txBody>
      </p:sp>
      <p:sp>
        <p:nvSpPr>
          <p:cNvPr id="3" name="Content Placeholder 2">
            <a:extLst>
              <a:ext uri="{FF2B5EF4-FFF2-40B4-BE49-F238E27FC236}">
                <a16:creationId xmlns:a16="http://schemas.microsoft.com/office/drawing/2014/main" xmlns="" id="{A5BD787E-5CA9-78BA-1131-A5C28D7E08CB}"/>
              </a:ext>
            </a:extLst>
          </p:cNvPr>
          <p:cNvSpPr>
            <a:spLocks noGrp="1"/>
          </p:cNvSpPr>
          <p:nvPr>
            <p:ph idx="1"/>
          </p:nvPr>
        </p:nvSpPr>
        <p:spPr>
          <a:xfrm>
            <a:off x="838200" y="1690688"/>
            <a:ext cx="10515600" cy="4351338"/>
          </a:xfrm>
        </p:spPr>
        <p:txBody>
          <a:bodyPr>
            <a:normAutofit/>
          </a:bodyPr>
          <a:lstStyle/>
          <a:p>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module creates an interactive virtual workspace where multiple students can connect and study together seamlessly. By utilizing peer-to-peer data channels, students can share insights, edit text, and communicate with each other instantly without ever needing to refresh the page. </a:t>
            </a:r>
            <a:r>
              <a:rPr lang="en-IN" sz="2000" b="1" dirty="0">
                <a:latin typeface="Times New Roman" panose="02020603050405020304" pitchFamily="18" charset="0"/>
                <a:cs typeface="Times New Roman" panose="02020603050405020304" pitchFamily="18" charset="0"/>
              </a:rPr>
              <a:t>• Key Features:</a:t>
            </a:r>
            <a:r>
              <a:rPr lang="en-IN" sz="2000" dirty="0">
                <a:latin typeface="Times New Roman" panose="02020603050405020304" pitchFamily="18" charset="0"/>
                <a:cs typeface="Times New Roman" panose="02020603050405020304" pitchFamily="18" charset="0"/>
              </a:rPr>
              <a:t> • Ultra-low latency connection handling • Persistent </a:t>
            </a:r>
            <a:r>
              <a:rPr lang="en-IN" sz="2000" dirty="0" err="1">
                <a:latin typeface="Times New Roman" panose="02020603050405020304" pitchFamily="18" charset="0"/>
                <a:cs typeface="Times New Roman" panose="02020603050405020304" pitchFamily="18" charset="0"/>
              </a:rPr>
              <a:t>WebSocket</a:t>
            </a:r>
            <a:r>
              <a:rPr lang="en-IN" sz="2000" dirty="0">
                <a:latin typeface="Times New Roman" panose="02020603050405020304" pitchFamily="18" charset="0"/>
                <a:cs typeface="Times New Roman" panose="02020603050405020304" pitchFamily="18" charset="0"/>
              </a:rPr>
              <a:t> server backups • Real-time synchronized text streaming • Live peer-to-peer data exchange • Interactive online study room environment</a:t>
            </a:r>
          </a:p>
        </p:txBody>
      </p:sp>
    </p:spTree>
    <p:extLst>
      <p:ext uri="{BB962C8B-B14F-4D97-AF65-F5344CB8AC3E}">
        <p14:creationId xmlns:p14="http://schemas.microsoft.com/office/powerpoint/2010/main" val="30181048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E88C2-9B16-539F-AD8D-809A03546BBA}"/>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Module 3: AI Assessments &amp; Quizzes</a:t>
            </a:r>
          </a:p>
        </p:txBody>
      </p:sp>
      <p:sp>
        <p:nvSpPr>
          <p:cNvPr id="3" name="Content Placeholder 2">
            <a:extLst>
              <a:ext uri="{FF2B5EF4-FFF2-40B4-BE49-F238E27FC236}">
                <a16:creationId xmlns:a16="http://schemas.microsoft.com/office/drawing/2014/main" xmlns="" id="{2A62B323-B977-9830-C3F3-EE4EA36672F0}"/>
              </a:ext>
            </a:extLst>
          </p:cNvPr>
          <p:cNvSpPr>
            <a:spLocks noGrp="1"/>
          </p:cNvSpPr>
          <p:nvPr>
            <p:ph idx="1"/>
          </p:nvPr>
        </p:nvSpPr>
        <p:spPr>
          <a:xfrm>
            <a:off x="838200" y="1690688"/>
            <a:ext cx="10515600" cy="4351338"/>
          </a:xfrm>
        </p:spPr>
        <p:txBody>
          <a:bodyPr>
            <a:normAutofit/>
          </a:bodyPr>
          <a:lstStyle/>
          <a:p>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module acts as a dynamic testing engine designed to help students validate their understanding of uploaded study materials. By parsing the content of user-uploaded notes, the system employs advanced large language models to algorithmically generate targeted quiz questions on the fly. </a:t>
            </a:r>
            <a:r>
              <a:rPr lang="en-IN" sz="2000" b="1" dirty="0">
                <a:latin typeface="Times New Roman" panose="02020603050405020304" pitchFamily="18" charset="0"/>
                <a:cs typeface="Times New Roman" panose="02020603050405020304" pitchFamily="18" charset="0"/>
              </a:rPr>
              <a:t>• Key Features:</a:t>
            </a:r>
            <a:r>
              <a:rPr lang="en-IN" sz="2000" dirty="0">
                <a:latin typeface="Times New Roman" panose="02020603050405020304" pitchFamily="18" charset="0"/>
                <a:cs typeface="Times New Roman" panose="02020603050405020304" pitchFamily="18" charset="0"/>
              </a:rPr>
              <a:t> • Automated note parsing and summarization • Dynamic multiple-choice question generation • Context-aware answer validation • Immediate performance feedback scoring • Algorithmic difficulty adjustment</a:t>
            </a:r>
          </a:p>
        </p:txBody>
      </p:sp>
    </p:spTree>
    <p:extLst>
      <p:ext uri="{BB962C8B-B14F-4D97-AF65-F5344CB8AC3E}">
        <p14:creationId xmlns:p14="http://schemas.microsoft.com/office/powerpoint/2010/main" val="26881593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A62F52-914E-92CE-9C90-628F63D2AE8E}"/>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Module 4: Career AI Roadmaps</a:t>
            </a:r>
          </a:p>
        </p:txBody>
      </p:sp>
      <p:sp>
        <p:nvSpPr>
          <p:cNvPr id="3" name="Content Placeholder 2">
            <a:extLst>
              <a:ext uri="{FF2B5EF4-FFF2-40B4-BE49-F238E27FC236}">
                <a16:creationId xmlns:a16="http://schemas.microsoft.com/office/drawing/2014/main" xmlns="" id="{C4CB1750-B4D9-45CE-5FB6-26DFEFBA72E3}"/>
              </a:ext>
            </a:extLst>
          </p:cNvPr>
          <p:cNvSpPr>
            <a:spLocks noGrp="1"/>
          </p:cNvSpPr>
          <p:nvPr>
            <p:ph idx="1"/>
          </p:nvPr>
        </p:nvSpPr>
        <p:spPr/>
        <p:txBody>
          <a:bodyPr>
            <a:normAutofit/>
          </a:bodyPr>
          <a:lstStyle/>
          <a:p>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module provides personalized, step-by-step career guidance by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a student's current skill sets and goals. It generates highly structured, duration-based learning roadmaps that tell students exactly what technologies to learn and in what order to achieve their dream roles. </a:t>
            </a:r>
            <a:r>
              <a:rPr lang="en-IN" sz="2000" b="1" dirty="0">
                <a:latin typeface="Times New Roman" panose="02020603050405020304" pitchFamily="18" charset="0"/>
                <a:cs typeface="Times New Roman" panose="02020603050405020304" pitchFamily="18" charset="0"/>
              </a:rPr>
              <a:t>• Key Features:</a:t>
            </a:r>
            <a:r>
              <a:rPr lang="en-IN" sz="2000" dirty="0">
                <a:latin typeface="Times New Roman" panose="02020603050405020304" pitchFamily="18" charset="0"/>
                <a:cs typeface="Times New Roman" panose="02020603050405020304" pitchFamily="18" charset="0"/>
              </a:rPr>
              <a:t> • Intelligent skill gap analysis • Hybrid duration-based timeline generation • Dynamic UI rendering of career paths • Downloadable structural PDF roadmaps • Direct integration with LLM prompting</a:t>
            </a:r>
          </a:p>
        </p:txBody>
      </p:sp>
    </p:spTree>
    <p:extLst>
      <p:ext uri="{BB962C8B-B14F-4D97-AF65-F5344CB8AC3E}">
        <p14:creationId xmlns:p14="http://schemas.microsoft.com/office/powerpoint/2010/main" val="41690777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97CE44-2B98-0C24-51F3-341E83FA0A2B}"/>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Module 5: PYQ (Previous Year Questions) </a:t>
            </a:r>
            <a:r>
              <a:rPr lang="en-IN" sz="3600" dirty="0" err="1">
                <a:latin typeface="Times New Roman" panose="02020603050405020304" pitchFamily="18" charset="0"/>
                <a:cs typeface="Times New Roman" panose="02020603050405020304" pitchFamily="18" charset="0"/>
              </a:rPr>
              <a:t>Analyzer</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F32BCBF-93BD-0CCF-31EF-1E2937224737}"/>
              </a:ext>
            </a:extLst>
          </p:cNvPr>
          <p:cNvSpPr>
            <a:spLocks noGrp="1"/>
          </p:cNvSpPr>
          <p:nvPr>
            <p:ph idx="1"/>
          </p:nvPr>
        </p:nvSpPr>
        <p:spPr/>
        <p:txBody>
          <a:bodyPr>
            <a:normAutofit/>
          </a:bodyPr>
          <a:lstStyle/>
          <a:p>
            <a:r>
              <a:rPr lang="en-IN" sz="2400" dirty="0" smtClean="0">
                <a:latin typeface="Times New Roman" panose="02020603050405020304" pitchFamily="18" charset="0"/>
                <a:cs typeface="Times New Roman" panose="02020603050405020304" pitchFamily="18" charset="0"/>
              </a:rPr>
              <a:t>This </a:t>
            </a:r>
            <a:r>
              <a:rPr lang="en-IN" sz="2400" dirty="0">
                <a:latin typeface="Times New Roman" panose="02020603050405020304" pitchFamily="18" charset="0"/>
                <a:cs typeface="Times New Roman" panose="02020603050405020304" pitchFamily="18" charset="0"/>
              </a:rPr>
              <a:t>module streamlines exam preparation by aggressively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historical question papers. It processes massive amounts of text from past exams, embeds the data to find patterns, and summarizes the most heavily weighted topics so students know exactly where to focus their attention. </a:t>
            </a:r>
            <a:r>
              <a:rPr lang="en-IN" sz="2400" b="1" dirty="0">
                <a:latin typeface="Times New Roman" panose="02020603050405020304" pitchFamily="18" charset="0"/>
                <a:cs typeface="Times New Roman" panose="02020603050405020304" pitchFamily="18" charset="0"/>
              </a:rPr>
              <a:t>• Key Features:</a:t>
            </a:r>
            <a:r>
              <a:rPr lang="en-IN" sz="2400" dirty="0">
                <a:latin typeface="Times New Roman" panose="02020603050405020304" pitchFamily="18" charset="0"/>
                <a:cs typeface="Times New Roman" panose="02020603050405020304" pitchFamily="18" charset="0"/>
              </a:rPr>
              <a:t> • Optical character and text extraction from past exams • Identification of recurring test patterns • Advanced topic summarization • Predictive insights on upcoming exams • Retrieval-Augmented Generation (RAG) capabilities</a:t>
            </a:r>
          </a:p>
        </p:txBody>
      </p:sp>
    </p:spTree>
    <p:extLst>
      <p:ext uri="{BB962C8B-B14F-4D97-AF65-F5344CB8AC3E}">
        <p14:creationId xmlns:p14="http://schemas.microsoft.com/office/powerpoint/2010/main" val="17442553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Module 6: Gamification &amp; Departmental Flare</a:t>
            </a:r>
          </a:p>
        </p:txBody>
      </p:sp>
      <p:sp>
        <p:nvSpPr>
          <p:cNvPr id="3" name="Content Placeholder 2"/>
          <p:cNvSpPr>
            <a:spLocks noGrp="1"/>
          </p:cNvSpPr>
          <p:nvPr>
            <p:ph idx="1"/>
          </p:nvPr>
        </p:nvSpPr>
        <p:spPr/>
        <p:txBody>
          <a:bodyPr>
            <a:normAutofit/>
          </a:bodyPr>
          <a:lstStyle/>
          <a:p>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module drives student engagement by introducing a competitive </a:t>
            </a:r>
            <a:r>
              <a:rPr lang="en-IN" sz="2000" dirty="0" err="1">
                <a:latin typeface="Times New Roman" panose="02020603050405020304" pitchFamily="18" charset="0"/>
                <a:cs typeface="Times New Roman" panose="02020603050405020304" pitchFamily="18" charset="0"/>
              </a:rPr>
              <a:t>leaderboard</a:t>
            </a:r>
            <a:r>
              <a:rPr lang="en-IN" sz="2000" dirty="0">
                <a:latin typeface="Times New Roman" panose="02020603050405020304" pitchFamily="18" charset="0"/>
                <a:cs typeface="Times New Roman" panose="02020603050405020304" pitchFamily="18" charset="0"/>
              </a:rPr>
              <a:t> powered by a secure AI identity verification system. It rewards points for valid note uploads and grants a coveted visual "Flare" to the top-performing departments, fostering healthy academic competition. </a:t>
            </a:r>
            <a:r>
              <a:rPr lang="en-IN" sz="2000" b="1" dirty="0">
                <a:latin typeface="Times New Roman" panose="02020603050405020304" pitchFamily="18" charset="0"/>
                <a:cs typeface="Times New Roman" panose="02020603050405020304" pitchFamily="18" charset="0"/>
              </a:rPr>
              <a:t>• Key Features:</a:t>
            </a:r>
            <a:r>
              <a:rPr lang="en-IN" sz="2000" dirty="0">
                <a:latin typeface="Times New Roman" panose="02020603050405020304" pitchFamily="18" charset="0"/>
                <a:cs typeface="Times New Roman" panose="02020603050405020304" pitchFamily="18" charset="0"/>
              </a:rPr>
              <a:t> • Point calculation based on platform contributions • Structural hashing for fake ID prevention • AI-powered student identity verification • Dynamic visual UI "glow" effects for winners • Automated </a:t>
            </a:r>
            <a:r>
              <a:rPr lang="en-IN" sz="2000" dirty="0" err="1">
                <a:latin typeface="Times New Roman" panose="02020603050405020304" pitchFamily="18" charset="0"/>
                <a:cs typeface="Times New Roman" panose="02020603050405020304" pitchFamily="18" charset="0"/>
              </a:rPr>
              <a:t>leaderboard</a:t>
            </a:r>
            <a:r>
              <a:rPr lang="en-IN" sz="2000" dirty="0">
                <a:latin typeface="Times New Roman" panose="02020603050405020304" pitchFamily="18" charset="0"/>
                <a:cs typeface="Times New Roman" panose="02020603050405020304" pitchFamily="18" charset="0"/>
              </a:rPr>
              <a:t> synchronization</a:t>
            </a:r>
          </a:p>
          <a:p>
            <a:pPr marL="0" indent="0">
              <a:buNone/>
            </a:pP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0348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C37917-2453-967D-D0C4-9B3F656E6898}"/>
              </a:ext>
            </a:extLst>
          </p:cNvPr>
          <p:cNvSpPr>
            <a:spLocks noGrp="1"/>
          </p:cNvSpPr>
          <p:nvPr>
            <p:ph type="title"/>
          </p:nvPr>
        </p:nvSpPr>
        <p:spPr>
          <a:xfrm>
            <a:off x="838200" y="60476"/>
            <a:ext cx="10515600" cy="1097130"/>
          </a:xfrm>
        </p:spPr>
        <p:txBody>
          <a:bodyPr>
            <a:normAutofit/>
          </a:bodyPr>
          <a:lstStyle/>
          <a:p>
            <a:r>
              <a:rPr lang="en-IN" sz="3600" dirty="0">
                <a:latin typeface="Times New Roman" panose="02020603050405020304" pitchFamily="18" charset="0"/>
                <a:cs typeface="Times New Roman" panose="02020603050405020304" pitchFamily="18" charset="0"/>
              </a:rPr>
              <a:t>Mathematical Model </a:t>
            </a:r>
          </a:p>
        </p:txBody>
      </p:sp>
      <p:sp>
        <p:nvSpPr>
          <p:cNvPr id="3" name="Content Placeholder 2">
            <a:extLst>
              <a:ext uri="{FF2B5EF4-FFF2-40B4-BE49-F238E27FC236}">
                <a16:creationId xmlns:mc="http://schemas.openxmlformats.org/markup-compatibility/2006" xmlns:a14="http://schemas.microsoft.com/office/drawing/2010/main" xmlns:a16="http://schemas.microsoft.com/office/drawing/2014/main" xmlns="" id="{0F5B0413-C460-B87A-90AE-90E5D327191A}"/>
              </a:ext>
            </a:extLst>
          </p:cNvPr>
          <p:cNvSpPr>
            <a:spLocks noGrp="1"/>
          </p:cNvSpPr>
          <p:nvPr>
            <p:ph idx="1"/>
          </p:nvPr>
        </p:nvSpPr>
        <p:spPr>
          <a:xfrm>
            <a:off x="838200" y="1157606"/>
            <a:ext cx="10515600" cy="5030620"/>
          </a:xfrm>
        </p:spPr>
        <p:txBody>
          <a:bodyPr>
            <a:normAutofit/>
          </a:bodyPr>
          <a:lstStyle/>
          <a:p>
            <a:r>
              <a:rPr lang="en-IN" sz="1600" b="1" dirty="0">
                <a:latin typeface="Times New Roman" panose="02020603050405020304" pitchFamily="18" charset="0"/>
                <a:cs typeface="Times New Roman" panose="02020603050405020304" pitchFamily="18" charset="0"/>
              </a:rPr>
              <a:t>1. Data Acquisition (Vectorization &amp; Hashing):</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t>
            </a:r>
            <a:r>
              <a:rPr lang="en-IN" sz="1600" i="1" dirty="0" err="1">
                <a:latin typeface="Times New Roman" panose="02020603050405020304" pitchFamily="18" charset="0"/>
                <a:cs typeface="Times New Roman" panose="02020603050405020304" pitchFamily="18" charset="0"/>
              </a:rPr>
              <a:t>SimHash</a:t>
            </a:r>
            <a:r>
              <a:rPr lang="en-IN" sz="1600" i="1" dirty="0">
                <a:latin typeface="Times New Roman" panose="02020603050405020304" pitchFamily="18" charset="0"/>
                <a:cs typeface="Times New Roman" panose="02020603050405020304" pitchFamily="18" charset="0"/>
              </a:rPr>
              <a:t> document finger-printing based on term weights</a:t>
            </a:r>
            <a:r>
              <a:rPr lang="en-IN" sz="1600" i="1" dirty="0" smtClean="0">
                <a:latin typeface="Times New Roman" panose="02020603050405020304" pitchFamily="18" charset="0"/>
                <a:cs typeface="Times New Roman" panose="02020603050405020304" pitchFamily="18" charset="0"/>
              </a:rPr>
              <a:t>)</a:t>
            </a:r>
          </a:p>
          <a:p>
            <a:endParaRPr lang="en-IN" sz="1600" i="1" dirty="0">
              <a:latin typeface="Times New Roman" panose="02020603050405020304" pitchFamily="18" charset="0"/>
              <a:cs typeface="Times New Roman" panose="02020603050405020304" pitchFamily="18" charset="0"/>
            </a:endParaRPr>
          </a:p>
          <a:p>
            <a:pPr marL="0" indent="0">
              <a:buNone/>
            </a:pPr>
            <a:endParaRPr lang="en-IN" sz="1600" i="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2. Condition Check (Plagiarism Analysis):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t>
            </a:r>
            <a:r>
              <a:rPr lang="en-IN" sz="1600" i="1" dirty="0" err="1">
                <a:latin typeface="Times New Roman" panose="02020603050405020304" pitchFamily="18" charset="0"/>
                <a:cs typeface="Times New Roman" panose="02020603050405020304" pitchFamily="18" charset="0"/>
              </a:rPr>
              <a:t>Jaccard</a:t>
            </a:r>
            <a:r>
              <a:rPr lang="en-IN" sz="1600" i="1" dirty="0">
                <a:latin typeface="Times New Roman" panose="02020603050405020304" pitchFamily="18" charset="0"/>
                <a:cs typeface="Times New Roman" panose="02020603050405020304" pitchFamily="18" charset="0"/>
              </a:rPr>
              <a:t> Similarity and Hamming Distance thresholds</a:t>
            </a:r>
            <a:r>
              <a:rPr lang="en-IN" sz="1600" i="1" dirty="0" smtClean="0">
                <a:latin typeface="Times New Roman" panose="02020603050405020304" pitchFamily="18" charset="0"/>
                <a:cs typeface="Times New Roman" panose="02020603050405020304" pitchFamily="18" charset="0"/>
              </a:rPr>
              <a:t>)</a:t>
            </a:r>
          </a:p>
          <a:p>
            <a:pPr marL="0" indent="0">
              <a:buNone/>
            </a:pPr>
            <a:endParaRPr lang="en-IN" sz="1600" i="1" dirty="0">
              <a:latin typeface="Times New Roman" panose="02020603050405020304" pitchFamily="18" charset="0"/>
              <a:cs typeface="Times New Roman" panose="02020603050405020304" pitchFamily="18" charset="0"/>
            </a:endParaRPr>
          </a:p>
          <a:p>
            <a:pPr marL="0" indent="0">
              <a:buNone/>
            </a:pPr>
            <a:endParaRPr lang="en-IN" sz="1600" i="1" dirty="0" smtClean="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3. Data Storage &amp; Gamification Analysis: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(Point updates factoring in the ID validation multiplier</a:t>
            </a:r>
            <a:r>
              <a:rPr lang="en-IN" sz="1600" i="1" dirty="0" smtClean="0">
                <a:latin typeface="Times New Roman" panose="02020603050405020304" pitchFamily="18" charset="0"/>
                <a:cs typeface="Times New Roman" panose="02020603050405020304" pitchFamily="18" charset="0"/>
              </a:rPr>
              <a:t>)</a:t>
            </a:r>
          </a:p>
          <a:p>
            <a:pPr marL="0" indent="0">
              <a:buNone/>
            </a:pPr>
            <a:endParaRPr lang="en-IN" sz="1600" i="1" dirty="0">
              <a:latin typeface="Times New Roman" panose="02020603050405020304" pitchFamily="18" charset="0"/>
              <a:cs typeface="Times New Roman" panose="02020603050405020304" pitchFamily="18" charset="0"/>
            </a:endParaRPr>
          </a:p>
          <a:p>
            <a:pPr marL="0" indent="0">
              <a:buNone/>
            </a:pPr>
            <a:endParaRPr lang="en-IN" sz="1600" i="1" dirty="0" smtClean="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4. Alert / Rejection Function:</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(Formal rejection bounds based on similarity scores</a:t>
            </a:r>
            <a:r>
              <a:rPr lang="en-IN" sz="1600" i="1" dirty="0" smtClean="0">
                <a:latin typeface="Times New Roman" panose="02020603050405020304" pitchFamily="18" charset="0"/>
                <a:cs typeface="Times New Roman" panose="02020603050405020304" pitchFamily="18" charset="0"/>
              </a:rPr>
              <a:t>)</a:t>
            </a:r>
          </a:p>
          <a:p>
            <a:pPr marL="0" indent="0">
              <a:buNone/>
            </a:pPr>
            <a:endParaRPr lang="en-IN" sz="1600" i="1" dirty="0">
              <a:latin typeface="Times New Roman" panose="02020603050405020304" pitchFamily="18" charset="0"/>
              <a:cs typeface="Times New Roman" panose="02020603050405020304" pitchFamily="18" charset="0"/>
            </a:endParaRPr>
          </a:p>
          <a:p>
            <a:pPr marL="0" indent="0">
              <a:buNone/>
            </a:pPr>
            <a:endParaRPr lang="en-IN" sz="1600" i="1" dirty="0" smtClean="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5. System Summary</a:t>
            </a:r>
            <a:r>
              <a:rPr lang="en-US" sz="1600" b="1" dirty="0" smtClean="0">
                <a:latin typeface="Times New Roman" panose="02020603050405020304" pitchFamily="18" charset="0"/>
                <a:cs typeface="Times New Roman" panose="02020603050405020304" pitchFamily="18" charset="0"/>
              </a:rPr>
              <a:t>:</a:t>
            </a:r>
          </a:p>
          <a:p>
            <a:pPr marL="0" indent="0">
              <a:buNone/>
            </a:pPr>
            <a:endParaRPr lang="en-IN" sz="1600" b="1"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1975" y="1489666"/>
            <a:ext cx="3865624" cy="67838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7998" y="2655888"/>
            <a:ext cx="6233578" cy="60929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0952" y="5007827"/>
            <a:ext cx="4659062" cy="61127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3258" y="3859367"/>
            <a:ext cx="7146161" cy="356965"/>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01602" y="6094927"/>
            <a:ext cx="5849471" cy="224810"/>
          </a:xfrm>
          <a:prstGeom prst="rect">
            <a:avLst/>
          </a:prstGeom>
        </p:spPr>
      </p:pic>
    </p:spTree>
    <p:extLst>
      <p:ext uri="{BB962C8B-B14F-4D97-AF65-F5344CB8AC3E}">
        <p14:creationId xmlns:p14="http://schemas.microsoft.com/office/powerpoint/2010/main" val="28152080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44" y="10659"/>
            <a:ext cx="11976367" cy="6892004"/>
          </a:xfrm>
          <a:prstGeom prst="rect">
            <a:avLst/>
          </a:prstGeom>
        </p:spPr>
      </p:pic>
      <p:sp>
        <p:nvSpPr>
          <p:cNvPr id="2" name="Title 1">
            <a:extLst>
              <a:ext uri="{FF2B5EF4-FFF2-40B4-BE49-F238E27FC236}">
                <a16:creationId xmlns:a16="http://schemas.microsoft.com/office/drawing/2014/main" xmlns="" id="{A5F5448E-853A-1DF8-C9E7-DA25CE82D7E4}"/>
              </a:ext>
            </a:extLst>
          </p:cNvPr>
          <p:cNvSpPr>
            <a:spLocks noGrp="1"/>
          </p:cNvSpPr>
          <p:nvPr>
            <p:ph type="title"/>
          </p:nvPr>
        </p:nvSpPr>
        <p:spPr>
          <a:xfrm>
            <a:off x="8391673" y="591671"/>
            <a:ext cx="3132456" cy="789907"/>
          </a:xfrm>
        </p:spPr>
        <p:txBody>
          <a:bodyPr>
            <a:normAutofit/>
          </a:bodyPr>
          <a:lstStyle/>
          <a:p>
            <a:r>
              <a:rPr lang="en-IN" sz="3200" dirty="0">
                <a:latin typeface="Times New Roman" panose="02020603050405020304" pitchFamily="18" charset="0"/>
                <a:cs typeface="Times New Roman" panose="02020603050405020304" pitchFamily="18" charset="0"/>
              </a:rPr>
              <a:t>Database Design</a:t>
            </a:r>
          </a:p>
        </p:txBody>
      </p:sp>
    </p:spTree>
    <p:extLst>
      <p:ext uri="{BB962C8B-B14F-4D97-AF65-F5344CB8AC3E}">
        <p14:creationId xmlns:p14="http://schemas.microsoft.com/office/powerpoint/2010/main" val="37373031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C45075-CCB0-F067-69B2-6C692DFC5AE7}"/>
              </a:ext>
            </a:extLst>
          </p:cNvPr>
          <p:cNvSpPr>
            <a:spLocks noGrp="1"/>
          </p:cNvSpPr>
          <p:nvPr>
            <p:ph type="title"/>
          </p:nvPr>
        </p:nvSpPr>
        <p:spPr>
          <a:xfrm>
            <a:off x="685801" y="176228"/>
            <a:ext cx="10515600" cy="1325563"/>
          </a:xfrm>
        </p:spPr>
        <p:txBody>
          <a:bodyPr>
            <a:normAutofit/>
          </a:bodyPr>
          <a:lstStyle/>
          <a:p>
            <a:r>
              <a:rPr lang="en-IN" sz="3600" dirty="0">
                <a:latin typeface="Times New Roman" panose="02020603050405020304" pitchFamily="18" charset="0"/>
                <a:cs typeface="Times New Roman" panose="02020603050405020304" pitchFamily="18" charset="0"/>
              </a:rPr>
              <a:t>Data Flow</a:t>
            </a:r>
          </a:p>
        </p:txBody>
      </p:sp>
      <p:sp>
        <p:nvSpPr>
          <p:cNvPr id="8" name="TextBox 7"/>
          <p:cNvSpPr txBox="1"/>
          <p:nvPr/>
        </p:nvSpPr>
        <p:spPr>
          <a:xfrm>
            <a:off x="685801" y="1313533"/>
            <a:ext cx="5455024" cy="5078313"/>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Level 0 Data Flow Diagram (Context Diagram) Theory</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Level 0 DFD</a:t>
            </a:r>
            <a:r>
              <a:rPr lang="en-IN" sz="1600" dirty="0">
                <a:latin typeface="Times New Roman" panose="02020603050405020304" pitchFamily="18" charset="0"/>
                <a:cs typeface="Times New Roman" panose="02020603050405020304" pitchFamily="18" charset="0"/>
              </a:rPr>
              <a:t>, also known as the Context Diagram, provides a high-level, "zoomed-out" view of the entire academic platform.</a:t>
            </a:r>
          </a:p>
          <a:p>
            <a:r>
              <a:rPr lang="en-IN" sz="1600" b="1" dirty="0">
                <a:latin typeface="Times New Roman" panose="02020603050405020304" pitchFamily="18" charset="0"/>
                <a:cs typeface="Times New Roman" panose="02020603050405020304" pitchFamily="18" charset="0"/>
              </a:rPr>
              <a:t>Purpose:</a:t>
            </a:r>
            <a:r>
              <a:rPr lang="en-IN" sz="1600" dirty="0">
                <a:latin typeface="Times New Roman" panose="02020603050405020304" pitchFamily="18" charset="0"/>
                <a:cs typeface="Times New Roman" panose="02020603050405020304" pitchFamily="18" charset="0"/>
              </a:rPr>
              <a:t> Its main goal is to establish the system boundary by representing the </a:t>
            </a:r>
            <a:r>
              <a:rPr lang="en-IN" sz="1600" dirty="0" err="1">
                <a:latin typeface="Times New Roman" panose="02020603050405020304" pitchFamily="18" charset="0"/>
                <a:cs typeface="Times New Roman" panose="02020603050405020304" pitchFamily="18" charset="0"/>
              </a:rPr>
              <a:t>NoteHub</a:t>
            </a:r>
            <a:r>
              <a:rPr lang="en-IN" sz="1600" dirty="0">
                <a:latin typeface="Times New Roman" panose="02020603050405020304" pitchFamily="18" charset="0"/>
                <a:cs typeface="Times New Roman" panose="02020603050405020304" pitchFamily="18" charset="0"/>
              </a:rPr>
              <a:t> platform as a single, centralized process. It intentionally hides internal AI and database complexities to focus purely on external interactions.</a:t>
            </a:r>
          </a:p>
          <a:p>
            <a:r>
              <a:rPr lang="en-IN" sz="1600" b="1" dirty="0">
                <a:latin typeface="Times New Roman" panose="02020603050405020304" pitchFamily="18" charset="0"/>
                <a:cs typeface="Times New Roman" panose="02020603050405020304" pitchFamily="18" charset="0"/>
              </a:rPr>
              <a:t>External Entities:</a:t>
            </a:r>
            <a:r>
              <a:rPr lang="en-IN" sz="1600" dirty="0">
                <a:latin typeface="Times New Roman" panose="02020603050405020304" pitchFamily="18" charset="0"/>
                <a:cs typeface="Times New Roman" panose="02020603050405020304" pitchFamily="18" charset="0"/>
              </a:rPr>
              <a:t> It identifies exactly who or what interacts with the system from the outside. In this project, the primary external entities are the </a:t>
            </a:r>
            <a:r>
              <a:rPr lang="en-IN" sz="1600" b="1" dirty="0">
                <a:latin typeface="Times New Roman" panose="02020603050405020304" pitchFamily="18" charset="0"/>
                <a:cs typeface="Times New Roman" panose="02020603050405020304" pitchFamily="18" charset="0"/>
              </a:rPr>
              <a:t>Students</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University Departments</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External </a:t>
            </a:r>
            <a:r>
              <a:rPr lang="en-IN" sz="1600" b="1" dirty="0" err="1">
                <a:latin typeface="Times New Roman" panose="02020603050405020304" pitchFamily="18" charset="0"/>
                <a:cs typeface="Times New Roman" panose="02020603050405020304" pitchFamily="18" charset="0"/>
              </a:rPr>
              <a:t>Auth</a:t>
            </a:r>
            <a:r>
              <a:rPr lang="en-IN" sz="1600" b="1" dirty="0">
                <a:latin typeface="Times New Roman" panose="02020603050405020304" pitchFamily="18" charset="0"/>
                <a:cs typeface="Times New Roman" panose="02020603050405020304" pitchFamily="18" charset="0"/>
              </a:rPr>
              <a:t> Providers</a:t>
            </a:r>
            <a:r>
              <a:rPr lang="en-IN" sz="1600" dirty="0">
                <a:latin typeface="Times New Roman" panose="02020603050405020304" pitchFamily="18" charset="0"/>
                <a:cs typeface="Times New Roman" panose="02020603050405020304" pitchFamily="18" charset="0"/>
              </a:rPr>
              <a:t> (like Google OAuth).</a:t>
            </a:r>
          </a:p>
          <a:p>
            <a:r>
              <a:rPr lang="en-IN" sz="1600" b="1" dirty="0">
                <a:latin typeface="Times New Roman" panose="02020603050405020304" pitchFamily="18" charset="0"/>
                <a:cs typeface="Times New Roman" panose="02020603050405020304" pitchFamily="18" charset="0"/>
              </a:rPr>
              <a:t>Data Flow:</a:t>
            </a:r>
            <a:r>
              <a:rPr lang="en-IN" sz="1600" dirty="0">
                <a:latin typeface="Times New Roman" panose="02020603050405020304" pitchFamily="18" charset="0"/>
                <a:cs typeface="Times New Roman" panose="02020603050405020304" pitchFamily="18" charset="0"/>
              </a:rPr>
              <a:t> It illustrates the primary inputs and outputs entering and leaving the system. For instance, it shows the system receiving raw data (uploaded study documents, ID images, search queries) and outputting processed information (verified access, semantic search results, plagiarism alerts, and </a:t>
            </a:r>
            <a:r>
              <a:rPr lang="en-IN" sz="1600" dirty="0" err="1">
                <a:latin typeface="Times New Roman" panose="02020603050405020304" pitchFamily="18" charset="0"/>
                <a:cs typeface="Times New Roman" panose="02020603050405020304" pitchFamily="18" charset="0"/>
              </a:rPr>
              <a:t>leaderboard</a:t>
            </a:r>
            <a:r>
              <a:rPr lang="en-IN" sz="1600" dirty="0">
                <a:latin typeface="Times New Roman" panose="02020603050405020304" pitchFamily="18" charset="0"/>
                <a:cs typeface="Times New Roman" panose="02020603050405020304" pitchFamily="18" charset="0"/>
              </a:rPr>
              <a:t> rankings) back to the user.</a:t>
            </a:r>
          </a:p>
          <a:p>
            <a:r>
              <a:rPr lang="en-IN" sz="1600" dirty="0">
                <a:latin typeface="Times New Roman" panose="02020603050405020304" pitchFamily="18" charset="0"/>
                <a:cs typeface="Times New Roman" panose="02020603050405020304" pitchFamily="18" charset="0"/>
              </a:rPr>
              <a:t/>
            </a:r>
            <a:br>
              <a:rPr lang="en-IN"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6306673" y="1290918"/>
            <a:ext cx="5661209" cy="452431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Level 1 Data Flow Diagram Theory</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Level 1 DFD</a:t>
            </a:r>
            <a:r>
              <a:rPr lang="en-IN" sz="1600" dirty="0">
                <a:latin typeface="Times New Roman" panose="02020603050405020304" pitchFamily="18" charset="0"/>
                <a:cs typeface="Times New Roman" panose="02020603050405020304" pitchFamily="18" charset="0"/>
              </a:rPr>
              <a:t> "zooms in" to unpack the single system bubble from Level 0, revealing the major internal sub-processes, AI engines, and databases that make </a:t>
            </a:r>
            <a:r>
              <a:rPr lang="en-IN" sz="1600" dirty="0" err="1">
                <a:latin typeface="Times New Roman" panose="02020603050405020304" pitchFamily="18" charset="0"/>
                <a:cs typeface="Times New Roman" panose="02020603050405020304" pitchFamily="18" charset="0"/>
              </a:rPr>
              <a:t>NoteHub</a:t>
            </a:r>
            <a:r>
              <a:rPr lang="en-IN" sz="1600" dirty="0">
                <a:latin typeface="Times New Roman" panose="02020603050405020304" pitchFamily="18" charset="0"/>
                <a:cs typeface="Times New Roman" panose="02020603050405020304" pitchFamily="18" charset="0"/>
              </a:rPr>
              <a:t> work.</a:t>
            </a:r>
          </a:p>
          <a:p>
            <a:r>
              <a:rPr lang="en-IN" sz="1600" b="1" dirty="0">
                <a:latin typeface="Times New Roman" panose="02020603050405020304" pitchFamily="18" charset="0"/>
                <a:cs typeface="Times New Roman" panose="02020603050405020304" pitchFamily="18" charset="0"/>
              </a:rPr>
              <a:t>Purpose:</a:t>
            </a:r>
            <a:r>
              <a:rPr lang="en-IN" sz="1600" dirty="0">
                <a:latin typeface="Times New Roman" panose="02020603050405020304" pitchFamily="18" charset="0"/>
                <a:cs typeface="Times New Roman" panose="02020603050405020304" pitchFamily="18" charset="0"/>
              </a:rPr>
              <a:t> Its main goal is to demonstrate the logical flow of information between internal modules, bridging the gap between high-level theory and actual backend implementation.</a:t>
            </a:r>
          </a:p>
          <a:p>
            <a:r>
              <a:rPr lang="en-IN" sz="1600" b="1" dirty="0">
                <a:latin typeface="Times New Roman" panose="02020603050405020304" pitchFamily="18" charset="0"/>
                <a:cs typeface="Times New Roman" panose="02020603050405020304" pitchFamily="18" charset="0"/>
              </a:rPr>
              <a:t>Sub-Processes &amp; Components:</a:t>
            </a:r>
            <a:r>
              <a:rPr lang="en-IN" sz="1600" dirty="0">
                <a:latin typeface="Times New Roman" panose="02020603050405020304" pitchFamily="18" charset="0"/>
                <a:cs typeface="Times New Roman" panose="02020603050405020304" pitchFamily="18" charset="0"/>
              </a:rPr>
              <a:t> It breaks the system down into functional areas like </a:t>
            </a:r>
            <a:r>
              <a:rPr lang="en-IN" sz="1600" b="1" dirty="0">
                <a:latin typeface="Times New Roman" panose="02020603050405020304" pitchFamily="18" charset="0"/>
                <a:cs typeface="Times New Roman" panose="02020603050405020304" pitchFamily="18" charset="0"/>
              </a:rPr>
              <a:t>AI Identity Verification</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Plagiarism &amp; Similarity Engine</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SimCheck</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Semantic Vector Search</a:t>
            </a:r>
            <a:r>
              <a:rPr lang="en-IN" sz="1600" dirty="0">
                <a:latin typeface="Times New Roman" panose="02020603050405020304" pitchFamily="18" charset="0"/>
                <a:cs typeface="Times New Roman" panose="02020603050405020304" pitchFamily="18" charset="0"/>
              </a:rPr>
              <a:t>, and the </a:t>
            </a:r>
            <a:r>
              <a:rPr lang="en-IN" sz="1600" b="1" dirty="0">
                <a:latin typeface="Times New Roman" panose="02020603050405020304" pitchFamily="18" charset="0"/>
                <a:cs typeface="Times New Roman" panose="02020603050405020304" pitchFamily="18" charset="0"/>
              </a:rPr>
              <a:t>Gamification Engine</a:t>
            </a:r>
            <a:r>
              <a:rPr lang="en-IN" sz="1600" dirty="0">
                <a:latin typeface="Times New Roman" panose="02020603050405020304" pitchFamily="18" charset="0"/>
                <a:cs typeface="Times New Roman" panose="02020603050405020304" pitchFamily="18" charset="0"/>
              </a:rPr>
              <a:t>, all routed through the PostgreSQL database.</a:t>
            </a:r>
          </a:p>
          <a:p>
            <a:r>
              <a:rPr lang="en-IN" sz="1600" b="1" dirty="0">
                <a:latin typeface="Times New Roman" panose="02020603050405020304" pitchFamily="18" charset="0"/>
                <a:cs typeface="Times New Roman" panose="02020603050405020304" pitchFamily="18" charset="0"/>
              </a:rPr>
              <a:t>Detailed Data Path:</a:t>
            </a:r>
            <a:r>
              <a:rPr lang="en-IN" sz="1600" dirty="0">
                <a:latin typeface="Times New Roman" panose="02020603050405020304" pitchFamily="18" charset="0"/>
                <a:cs typeface="Times New Roman" panose="02020603050405020304" pitchFamily="18" charset="0"/>
              </a:rPr>
              <a:t> It traces the exact lifecycle of data. It shows how a student's credentials pass through the </a:t>
            </a:r>
            <a:r>
              <a:rPr lang="en-IN" sz="1600" dirty="0" err="1">
                <a:latin typeface="Times New Roman" panose="02020603050405020304" pitchFamily="18" charset="0"/>
                <a:cs typeface="Times New Roman" panose="02020603050405020304" pitchFamily="18" charset="0"/>
              </a:rPr>
              <a:t>Auth</a:t>
            </a:r>
            <a:r>
              <a:rPr lang="en-IN" sz="1600" dirty="0">
                <a:latin typeface="Times New Roman" panose="02020603050405020304" pitchFamily="18" charset="0"/>
                <a:cs typeface="Times New Roman" panose="02020603050405020304" pitchFamily="18" charset="0"/>
              </a:rPr>
              <a:t> Process, how an uploaded document is processed through structural hashing and vector embedding before database storage, and how successful uploads automatically trigger the </a:t>
            </a:r>
            <a:r>
              <a:rPr lang="en-IN" sz="1600" dirty="0" err="1">
                <a:latin typeface="Times New Roman" panose="02020603050405020304" pitchFamily="18" charset="0"/>
                <a:cs typeface="Times New Roman" panose="02020603050405020304" pitchFamily="18" charset="0"/>
              </a:rPr>
              <a:t>Leaderboard</a:t>
            </a:r>
            <a:r>
              <a:rPr lang="en-IN" sz="1600" dirty="0">
                <a:latin typeface="Times New Roman" panose="02020603050405020304" pitchFamily="18" charset="0"/>
                <a:cs typeface="Times New Roman" panose="02020603050405020304" pitchFamily="18" charset="0"/>
              </a:rPr>
              <a:t> module to distribute points and update the Departmental Flare.</a:t>
            </a:r>
          </a:p>
        </p:txBody>
      </p:sp>
    </p:spTree>
    <p:extLst>
      <p:ext uri="{BB962C8B-B14F-4D97-AF65-F5344CB8AC3E}">
        <p14:creationId xmlns:p14="http://schemas.microsoft.com/office/powerpoint/2010/main" val="28106168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9937"/>
            <a:ext cx="10174941" cy="535828"/>
          </a:xfrm>
        </p:spPr>
        <p:txBody>
          <a:bodyPr>
            <a:normAutofit fontScale="90000"/>
          </a:bodyPr>
          <a:lstStyle/>
          <a:p>
            <a:r>
              <a:rPr lang="en-US" dirty="0">
                <a:latin typeface="Times New Roman" panose="02020603050405020304" pitchFamily="18" charset="0"/>
                <a:cs typeface="Times New Roman" panose="02020603050405020304" pitchFamily="18" charset="0"/>
              </a:rPr>
              <a:t>UI Screenshots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4362" b="5663"/>
          <a:stretch/>
        </p:blipFill>
        <p:spPr>
          <a:xfrm>
            <a:off x="309282" y="1075765"/>
            <a:ext cx="9291918" cy="4434733"/>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32206" t="23796" r="31728" b="4880"/>
          <a:stretch/>
        </p:blipFill>
        <p:spPr>
          <a:xfrm>
            <a:off x="7566211" y="1611593"/>
            <a:ext cx="4397189" cy="4889025"/>
          </a:xfrm>
          <a:prstGeom prst="rect">
            <a:avLst/>
          </a:prstGeom>
        </p:spPr>
      </p:pic>
    </p:spTree>
    <p:extLst>
      <p:ext uri="{BB962C8B-B14F-4D97-AF65-F5344CB8AC3E}">
        <p14:creationId xmlns:p14="http://schemas.microsoft.com/office/powerpoint/2010/main" val="34051128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758" t="14297" r="3052" b="4488"/>
          <a:stretch/>
        </p:blipFill>
        <p:spPr>
          <a:xfrm>
            <a:off x="2471" y="403412"/>
            <a:ext cx="12149512" cy="5889811"/>
          </a:xfrm>
          <a:prstGeom prst="rect">
            <a:avLst/>
          </a:prstGeom>
        </p:spPr>
      </p:pic>
    </p:spTree>
    <p:extLst>
      <p:ext uri="{BB962C8B-B14F-4D97-AF65-F5344CB8AC3E}">
        <p14:creationId xmlns:p14="http://schemas.microsoft.com/office/powerpoint/2010/main" val="9965046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5147" t="18221" r="26323" b="7822"/>
          <a:stretch/>
        </p:blipFill>
        <p:spPr>
          <a:xfrm>
            <a:off x="0" y="598395"/>
            <a:ext cx="5571433" cy="4773706"/>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41360" t="15080" r="4559" b="3703"/>
          <a:stretch/>
        </p:blipFill>
        <p:spPr>
          <a:xfrm>
            <a:off x="5598458" y="201707"/>
            <a:ext cx="6593542" cy="5567082"/>
          </a:xfrm>
          <a:prstGeom prst="rect">
            <a:avLst/>
          </a:prstGeom>
        </p:spPr>
      </p:pic>
    </p:spTree>
    <p:extLst>
      <p:ext uri="{BB962C8B-B14F-4D97-AF65-F5344CB8AC3E}">
        <p14:creationId xmlns:p14="http://schemas.microsoft.com/office/powerpoint/2010/main" val="28625185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874" t="15473" r="2170" b="5076"/>
          <a:stretch/>
        </p:blipFill>
        <p:spPr>
          <a:xfrm>
            <a:off x="20418" y="470647"/>
            <a:ext cx="12161124" cy="5661212"/>
          </a:xfrm>
          <a:prstGeom prst="rect">
            <a:avLst/>
          </a:prstGeom>
        </p:spPr>
      </p:pic>
    </p:spTree>
    <p:extLst>
      <p:ext uri="{BB962C8B-B14F-4D97-AF65-F5344CB8AC3E}">
        <p14:creationId xmlns:p14="http://schemas.microsoft.com/office/powerpoint/2010/main" val="12132201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191" t="14297" r="5037" b="7822"/>
          <a:stretch/>
        </p:blipFill>
        <p:spPr>
          <a:xfrm>
            <a:off x="39055" y="403412"/>
            <a:ext cx="12181981" cy="5876363"/>
          </a:xfrm>
          <a:prstGeom prst="rect">
            <a:avLst/>
          </a:prstGeom>
        </p:spPr>
      </p:pic>
    </p:spTree>
    <p:extLst>
      <p:ext uri="{BB962C8B-B14F-4D97-AF65-F5344CB8AC3E}">
        <p14:creationId xmlns:p14="http://schemas.microsoft.com/office/powerpoint/2010/main" val="18862560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080" t="14492" r="5478" b="4488"/>
          <a:stretch/>
        </p:blipFill>
        <p:spPr>
          <a:xfrm>
            <a:off x="0" y="228599"/>
            <a:ext cx="12201334" cy="6145307"/>
          </a:xfrm>
          <a:prstGeom prst="rect">
            <a:avLst/>
          </a:prstGeom>
        </p:spPr>
      </p:pic>
    </p:spTree>
    <p:extLst>
      <p:ext uri="{BB962C8B-B14F-4D97-AF65-F5344CB8AC3E}">
        <p14:creationId xmlns:p14="http://schemas.microsoft.com/office/powerpoint/2010/main" val="21134080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C831C87-F27D-1004-F9A2-6A1812E1EAA6}"/>
              </a:ext>
            </a:extLst>
          </p:cNvPr>
          <p:cNvSpPr>
            <a:spLocks noGrp="1"/>
          </p:cNvSpPr>
          <p:nvPr>
            <p:ph idx="1"/>
          </p:nvPr>
        </p:nvSpPr>
        <p:spPr>
          <a:xfrm>
            <a:off x="984558" y="1492749"/>
            <a:ext cx="9846365" cy="5082862"/>
          </a:xfrm>
        </p:spPr>
        <p:txBody>
          <a:bodyPr>
            <a:normAutofit/>
          </a:bodyPr>
          <a:lstStyle/>
          <a:p>
            <a:r>
              <a:rPr lang="en-IN" sz="2000" b="1" dirty="0">
                <a:latin typeface="Times New Roman" panose="02020603050405020304" pitchFamily="18" charset="0"/>
                <a:cs typeface="Times New Roman" panose="02020603050405020304" pitchFamily="18" charset="0"/>
              </a:rPr>
              <a:t>Unit Testing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Each module is tested </a:t>
            </a:r>
            <a:r>
              <a:rPr lang="en-IN" sz="2000" b="1" dirty="0">
                <a:latin typeface="Times New Roman" panose="02020603050405020304" pitchFamily="18" charset="0"/>
                <a:cs typeface="Times New Roman" panose="02020603050405020304" pitchFamily="18" charset="0"/>
              </a:rPr>
              <a:t>individually</a:t>
            </a:r>
            <a:r>
              <a:rPr lang="en-IN" sz="2000" dirty="0">
                <a:latin typeface="Times New Roman" panose="02020603050405020304" pitchFamily="18" charset="0"/>
                <a:cs typeface="Times New Roman" panose="02020603050405020304" pitchFamily="18" charset="0"/>
              </a:rPr>
              <a:t> to verify correct functionality.</a:t>
            </a:r>
          </a:p>
          <a:p>
            <a:r>
              <a:rPr lang="en-IN" sz="2000" dirty="0">
                <a:latin typeface="Times New Roman" panose="02020603050405020304" pitchFamily="18" charset="0"/>
                <a:cs typeface="Times New Roman" panose="02020603050405020304" pitchFamily="18" charset="0"/>
              </a:rPr>
              <a:t>Focus on core components like </a:t>
            </a:r>
            <a:r>
              <a:rPr lang="en-IN" sz="2000" b="1" dirty="0">
                <a:latin typeface="Times New Roman" panose="02020603050405020304" pitchFamily="18" charset="0"/>
                <a:cs typeface="Times New Roman" panose="02020603050405020304" pitchFamily="18" charset="0"/>
              </a:rPr>
              <a:t>AI verification logic, text shingling (</a:t>
            </a:r>
            <a:r>
              <a:rPr lang="en-IN" sz="2000" b="1" dirty="0" err="1">
                <a:latin typeface="Times New Roman" panose="02020603050405020304" pitchFamily="18" charset="0"/>
                <a:cs typeface="Times New Roman" panose="02020603050405020304" pitchFamily="18" charset="0"/>
              </a:rPr>
              <a:t>SimCheck</a:t>
            </a:r>
            <a:r>
              <a:rPr lang="en-IN" sz="2000" b="1" dirty="0">
                <a:latin typeface="Times New Roman" panose="02020603050405020304" pitchFamily="18" charset="0"/>
                <a:cs typeface="Times New Roman" panose="02020603050405020304" pitchFamily="18" charset="0"/>
              </a:rPr>
              <a:t>) algorithms, API functions, and database operations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Helps in identifying bugs at an </a:t>
            </a:r>
            <a:r>
              <a:rPr lang="en-IN" sz="2000" b="1" dirty="0">
                <a:latin typeface="Times New Roman" panose="02020603050405020304" pitchFamily="18" charset="0"/>
                <a:cs typeface="Times New Roman" panose="02020603050405020304" pitchFamily="18" charset="0"/>
              </a:rPr>
              <a:t>early development stage</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Ensures each distinct function (e.g., calculating the 1.1x point multiplier or generating vector </a:t>
            </a:r>
            <a:r>
              <a:rPr lang="en-IN" sz="2000" dirty="0" err="1">
                <a:latin typeface="Times New Roman" panose="02020603050405020304" pitchFamily="18" charset="0"/>
                <a:cs typeface="Times New Roman" panose="02020603050405020304" pitchFamily="18" charset="0"/>
              </a:rPr>
              <a:t>embeddings</a:t>
            </a:r>
            <a:r>
              <a:rPr lang="en-IN" sz="2000" dirty="0">
                <a:latin typeface="Times New Roman" panose="02020603050405020304" pitchFamily="18" charset="0"/>
                <a:cs typeface="Times New Roman" panose="02020603050405020304" pitchFamily="18" charset="0"/>
              </a:rPr>
              <a:t>) works exactly as expected before integration.</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Integration Testing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Tests the seamless interaction between </a:t>
            </a:r>
            <a:r>
              <a:rPr lang="en-IN" sz="2000" b="1" dirty="0">
                <a:latin typeface="Times New Roman" panose="02020603050405020304" pitchFamily="18" charset="0"/>
                <a:cs typeface="Times New Roman" panose="02020603050405020304" pitchFamily="18" charset="0"/>
              </a:rPr>
              <a:t>multiple modules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Verifies proper </a:t>
            </a:r>
            <a:r>
              <a:rPr lang="en-IN" sz="2000" b="1" dirty="0">
                <a:latin typeface="Times New Roman" panose="02020603050405020304" pitchFamily="18" charset="0"/>
                <a:cs typeface="Times New Roman" panose="02020603050405020304" pitchFamily="18" charset="0"/>
              </a:rPr>
              <a:t>data flow between the React frontend, Node.js backend, and PostgreSQL database</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Ensures complex multi-step processes—like the </a:t>
            </a:r>
            <a:r>
              <a:rPr lang="en-IN" sz="2000" b="1" dirty="0">
                <a:latin typeface="Times New Roman" panose="02020603050405020304" pitchFamily="18" charset="0"/>
                <a:cs typeface="Times New Roman" panose="02020603050405020304" pitchFamily="18" charset="0"/>
              </a:rPr>
              <a:t>anti-plagiarism upload flow</a:t>
            </a:r>
            <a:r>
              <a:rPr lang="en-IN" sz="2000" dirty="0">
                <a:latin typeface="Times New Roman" panose="02020603050405020304" pitchFamily="18" charset="0"/>
                <a:cs typeface="Times New Roman" panose="02020603050405020304" pitchFamily="18" charset="0"/>
              </a:rPr>
              <a:t> and the </a:t>
            </a:r>
            <a:r>
              <a:rPr lang="en-IN" sz="2000" b="1" dirty="0">
                <a:latin typeface="Times New Roman" panose="02020603050405020304" pitchFamily="18" charset="0"/>
                <a:cs typeface="Times New Roman" panose="02020603050405020304" pitchFamily="18" charset="0"/>
              </a:rPr>
              <a:t>AI identity verification process</a:t>
            </a:r>
            <a:r>
              <a:rPr lang="en-IN" sz="2000" dirty="0">
                <a:latin typeface="Times New Roman" panose="02020603050405020304" pitchFamily="18" charset="0"/>
                <a:cs typeface="Times New Roman" panose="02020603050405020304" pitchFamily="18" charset="0"/>
              </a:rPr>
              <a:t>—connect securely to the backend and accurately update the gamified </a:t>
            </a:r>
            <a:r>
              <a:rPr lang="en-IN" sz="2000" dirty="0" err="1">
                <a:latin typeface="Times New Roman" panose="02020603050405020304" pitchFamily="18" charset="0"/>
                <a:cs typeface="Times New Roman" panose="02020603050405020304" pitchFamily="18" charset="0"/>
              </a:rPr>
              <a:t>Leaderboard</a:t>
            </a:r>
            <a:r>
              <a:rPr lang="en-IN"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xmlns="" id="{CCF54022-51B0-4064-79D5-D663A641D240}"/>
              </a:ext>
            </a:extLst>
          </p:cNvPr>
          <p:cNvSpPr txBox="1"/>
          <p:nvPr/>
        </p:nvSpPr>
        <p:spPr>
          <a:xfrm>
            <a:off x="984558" y="475118"/>
            <a:ext cx="6097656" cy="707886"/>
          </a:xfrm>
          <a:prstGeom prst="rect">
            <a:avLst/>
          </a:prstGeom>
          <a:noFill/>
        </p:spPr>
        <p:txBody>
          <a:bodyPr wrap="square">
            <a:spAutoFit/>
          </a:bodyPr>
          <a:lstStyle/>
          <a:p>
            <a:r>
              <a:rPr lang="en-IN" sz="4000" dirty="0">
                <a:latin typeface="Times New Roman" panose="02020603050405020304" pitchFamily="18" charset="0"/>
                <a:cs typeface="Times New Roman" panose="02020603050405020304" pitchFamily="18" charset="0"/>
              </a:rPr>
              <a:t>Testing Strategy</a:t>
            </a:r>
          </a:p>
        </p:txBody>
      </p:sp>
    </p:spTree>
    <p:extLst>
      <p:ext uri="{BB962C8B-B14F-4D97-AF65-F5344CB8AC3E}">
        <p14:creationId xmlns:p14="http://schemas.microsoft.com/office/powerpoint/2010/main" val="8973027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6BD175-923E-87F3-3CA1-25716F6DBD29}"/>
              </a:ext>
            </a:extLst>
          </p:cNvPr>
          <p:cNvSpPr>
            <a:spLocks noGrp="1"/>
          </p:cNvSpPr>
          <p:nvPr>
            <p:ph type="title"/>
          </p:nvPr>
        </p:nvSpPr>
        <p:spPr>
          <a:xfrm>
            <a:off x="861391" y="371287"/>
            <a:ext cx="3511826" cy="731956"/>
          </a:xfrm>
        </p:spPr>
        <p:txBody>
          <a:bodyPr>
            <a:normAutofit/>
          </a:bodyPr>
          <a:lstStyle/>
          <a:p>
            <a:r>
              <a:rPr lang="en-IN" sz="4000" dirty="0">
                <a:latin typeface="Times New Roman" panose="02020603050405020304" pitchFamily="18" charset="0"/>
                <a:cs typeface="Times New Roman" panose="02020603050405020304" pitchFamily="18" charset="0"/>
              </a:rPr>
              <a:t>Test Cases</a:t>
            </a:r>
          </a:p>
        </p:txBody>
      </p:sp>
      <p:sp>
        <p:nvSpPr>
          <p:cNvPr id="9" name="TextBox 8">
            <a:extLst>
              <a:ext uri="{FF2B5EF4-FFF2-40B4-BE49-F238E27FC236}">
                <a16:creationId xmlns:a16="http://schemas.microsoft.com/office/drawing/2014/main" xmlns="" id="{05BA0F9B-9102-0872-9A85-FBC21619B2EB}"/>
              </a:ext>
            </a:extLst>
          </p:cNvPr>
          <p:cNvSpPr txBox="1"/>
          <p:nvPr/>
        </p:nvSpPr>
        <p:spPr>
          <a:xfrm>
            <a:off x="1324389" y="1238388"/>
            <a:ext cx="6097656" cy="430887"/>
          </a:xfrm>
          <a:prstGeom prst="rect">
            <a:avLst/>
          </a:prstGeom>
          <a:noFill/>
        </p:spPr>
        <p:txBody>
          <a:bodyPr wrap="square">
            <a:spAutoFit/>
          </a:bodyPr>
          <a:lstStyle/>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Functional Test Cases</a:t>
            </a:r>
          </a:p>
        </p:txBody>
      </p:sp>
      <p:graphicFrame>
        <p:nvGraphicFramePr>
          <p:cNvPr id="5" name="Table 4"/>
          <p:cNvGraphicFramePr>
            <a:graphicFrameLocks noGrp="1"/>
          </p:cNvGraphicFramePr>
          <p:nvPr>
            <p:extLst>
              <p:ext uri="{D42A27DB-BD31-4B8C-83A1-F6EECF244321}">
                <p14:modId xmlns:p14="http://schemas.microsoft.com/office/powerpoint/2010/main" val="3995239938"/>
              </p:ext>
            </p:extLst>
          </p:nvPr>
        </p:nvGraphicFramePr>
        <p:xfrm>
          <a:off x="989838" y="1825625"/>
          <a:ext cx="10212324" cy="4351339"/>
        </p:xfrm>
        <a:graphic>
          <a:graphicData uri="http://schemas.openxmlformats.org/drawingml/2006/table">
            <a:tbl>
              <a:tblPr/>
              <a:tblGrid>
                <a:gridCol w="2553081"/>
                <a:gridCol w="2553081"/>
                <a:gridCol w="2553081"/>
                <a:gridCol w="2553081"/>
              </a:tblGrid>
              <a:tr h="414413">
                <a:tc>
                  <a:txBody>
                    <a:bodyPr/>
                    <a:lstStyle/>
                    <a:p>
                      <a:pPr algn="l"/>
                      <a:r>
                        <a:rPr lang="en-US" sz="1700" dirty="0">
                          <a:effectLst/>
                          <a:latin typeface="Times New Roman" panose="02020603050405020304" pitchFamily="18" charset="0"/>
                          <a:cs typeface="Times New Roman" panose="02020603050405020304" pitchFamily="18" charset="0"/>
                        </a:rPr>
                        <a:t>Test Case</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a:effectLst/>
                          <a:latin typeface="Times New Roman" panose="02020603050405020304" pitchFamily="18" charset="0"/>
                          <a:cs typeface="Times New Roman" panose="02020603050405020304" pitchFamily="18" charset="0"/>
                        </a:rPr>
                        <a:t>Input</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a:effectLst/>
                          <a:latin typeface="Times New Roman" panose="02020603050405020304" pitchFamily="18" charset="0"/>
                          <a:cs typeface="Times New Roman" panose="02020603050405020304" pitchFamily="18" charset="0"/>
                        </a:rPr>
                        <a:t>Expected Output</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a:effectLst/>
                          <a:latin typeface="Times New Roman" panose="02020603050405020304" pitchFamily="18" charset="0"/>
                          <a:cs typeface="Times New Roman" panose="02020603050405020304" pitchFamily="18" charset="0"/>
                        </a:rPr>
                        <a:t>Actual Output</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r>
              <a:tr h="680822">
                <a:tc>
                  <a:txBody>
                    <a:bodyPr/>
                    <a:lstStyle/>
                    <a:p>
                      <a:pPr algn="l"/>
                      <a:r>
                        <a:rPr lang="en-US" sz="1700">
                          <a:effectLst/>
                          <a:latin typeface="Times New Roman" panose="02020603050405020304" pitchFamily="18" charset="0"/>
                          <a:cs typeface="Times New Roman" panose="02020603050405020304" pitchFamily="18" charset="0"/>
                        </a:rPr>
                        <a:t>AI ID Verification</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Upload valid ID &amp; Bonafide images</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Verification successful, 1.1x multiplier granted</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Verification successful</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80822">
                <a:tc>
                  <a:txBody>
                    <a:bodyPr/>
                    <a:lstStyle/>
                    <a:p>
                      <a:pPr algn="l"/>
                      <a:r>
                        <a:rPr lang="en-US" sz="1700">
                          <a:effectLst/>
                          <a:latin typeface="Times New Roman" panose="02020603050405020304" pitchFamily="18" charset="0"/>
                          <a:cs typeface="Times New Roman" panose="02020603050405020304" pitchFamily="18" charset="0"/>
                        </a:rPr>
                        <a:t>Plagiarism Detection</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Upload a document highly similar to an existing note</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Upload blocked, plagiarism alert generated</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Alert triggered successfully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947230">
                <a:tc>
                  <a:txBody>
                    <a:bodyPr/>
                    <a:lstStyle/>
                    <a:p>
                      <a:pPr algn="l"/>
                      <a:r>
                        <a:rPr lang="en-US" sz="1700">
                          <a:effectLst/>
                          <a:latin typeface="Times New Roman" panose="02020603050405020304" pitchFamily="18" charset="0"/>
                          <a:cs typeface="Times New Roman" panose="02020603050405020304" pitchFamily="18" charset="0"/>
                        </a:rPr>
                        <a:t>Semantic Search</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Enter search query for a specific academic topic</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Relevant notes fetched based on vector embeddings</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Relevant notes displayed</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947230">
                <a:tc>
                  <a:txBody>
                    <a:bodyPr/>
                    <a:lstStyle/>
                    <a:p>
                      <a:pPr algn="l"/>
                      <a:r>
                        <a:rPr lang="en-US" sz="1700">
                          <a:effectLst/>
                          <a:latin typeface="Times New Roman" panose="02020603050405020304" pitchFamily="18" charset="0"/>
                          <a:cs typeface="Times New Roman" panose="02020603050405020304" pitchFamily="18" charset="0"/>
                        </a:rPr>
                        <a:t>Leaderboard Calculation</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User earns new points</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Department average and user rank update automatically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Rank updated automatically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80822">
                <a:tc>
                  <a:txBody>
                    <a:bodyPr/>
                    <a:lstStyle/>
                    <a:p>
                      <a:pPr algn="l"/>
                      <a:r>
                        <a:rPr lang="en-US" sz="1700">
                          <a:effectLst/>
                          <a:latin typeface="Times New Roman" panose="02020603050405020304" pitchFamily="18" charset="0"/>
                          <a:cs typeface="Times New Roman" panose="02020603050405020304" pitchFamily="18" charset="0"/>
                        </a:rPr>
                        <a:t>Study Group Creation</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Enter valid group name and subject</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Group created, creator added as administrator</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dirty="0">
                          <a:effectLst/>
                          <a:latin typeface="Times New Roman" panose="02020603050405020304" pitchFamily="18" charset="0"/>
                          <a:cs typeface="Times New Roman" panose="02020603050405020304" pitchFamily="18" charset="0"/>
                        </a:rPr>
                        <a:t>Group created successfully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3758678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5A0A05D9-4BDF-C7AD-FBC9-BA0314ED3DB3}"/>
              </a:ext>
            </a:extLst>
          </p:cNvPr>
          <p:cNvSpPr txBox="1"/>
          <p:nvPr/>
        </p:nvSpPr>
        <p:spPr>
          <a:xfrm>
            <a:off x="1474992" y="848419"/>
            <a:ext cx="6097656" cy="430887"/>
          </a:xfrm>
          <a:prstGeom prst="rect">
            <a:avLst/>
          </a:prstGeom>
          <a:noFill/>
        </p:spPr>
        <p:txBody>
          <a:bodyPr wrap="square">
            <a:spAutoFit/>
          </a:bodyPr>
          <a:lstStyle/>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System / User Test Cases</a:t>
            </a:r>
          </a:p>
        </p:txBody>
      </p:sp>
      <p:graphicFrame>
        <p:nvGraphicFramePr>
          <p:cNvPr id="5" name="Table 4"/>
          <p:cNvGraphicFramePr>
            <a:graphicFrameLocks noGrp="1"/>
          </p:cNvGraphicFramePr>
          <p:nvPr>
            <p:extLst>
              <p:ext uri="{D42A27DB-BD31-4B8C-83A1-F6EECF244321}">
                <p14:modId xmlns:p14="http://schemas.microsoft.com/office/powerpoint/2010/main" val="4034095346"/>
              </p:ext>
            </p:extLst>
          </p:nvPr>
        </p:nvGraphicFramePr>
        <p:xfrm>
          <a:off x="989838" y="1543237"/>
          <a:ext cx="10212324" cy="4351339"/>
        </p:xfrm>
        <a:graphic>
          <a:graphicData uri="http://schemas.openxmlformats.org/drawingml/2006/table">
            <a:tbl>
              <a:tblPr/>
              <a:tblGrid>
                <a:gridCol w="2553081"/>
                <a:gridCol w="2553081"/>
                <a:gridCol w="2553081"/>
                <a:gridCol w="2553081"/>
              </a:tblGrid>
              <a:tr h="414413">
                <a:tc>
                  <a:txBody>
                    <a:bodyPr/>
                    <a:lstStyle/>
                    <a:p>
                      <a:pPr algn="l"/>
                      <a:r>
                        <a:rPr lang="en-US" sz="1700">
                          <a:effectLst/>
                          <a:latin typeface="Times New Roman" panose="02020603050405020304" pitchFamily="18" charset="0"/>
                          <a:cs typeface="Times New Roman" panose="02020603050405020304" pitchFamily="18" charset="0"/>
                        </a:rPr>
                        <a:t>Test Case</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a:effectLst/>
                          <a:latin typeface="Times New Roman" panose="02020603050405020304" pitchFamily="18" charset="0"/>
                          <a:cs typeface="Times New Roman" panose="02020603050405020304" pitchFamily="18" charset="0"/>
                        </a:rPr>
                        <a:t>Input</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a:effectLst/>
                          <a:latin typeface="Times New Roman" panose="02020603050405020304" pitchFamily="18" charset="0"/>
                          <a:cs typeface="Times New Roman" panose="02020603050405020304" pitchFamily="18" charset="0"/>
                        </a:rPr>
                        <a:t>Expected Output</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a:effectLst/>
                          <a:latin typeface="Times New Roman" panose="02020603050405020304" pitchFamily="18" charset="0"/>
                          <a:cs typeface="Times New Roman" panose="02020603050405020304" pitchFamily="18" charset="0"/>
                        </a:rPr>
                        <a:t>Actual Output</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r>
              <a:tr h="680822">
                <a:tc>
                  <a:txBody>
                    <a:bodyPr/>
                    <a:lstStyle/>
                    <a:p>
                      <a:pPr algn="l"/>
                      <a:r>
                        <a:rPr lang="en-US" sz="1700" b="1">
                          <a:effectLst/>
                          <a:latin typeface="Times New Roman" panose="02020603050405020304" pitchFamily="18" charset="0"/>
                          <a:cs typeface="Times New Roman" panose="02020603050405020304" pitchFamily="18" charset="0"/>
                        </a:rPr>
                        <a:t>User Login</a:t>
                      </a:r>
                      <a:endParaRPr lang="en-US" sz="1700">
                        <a:effectLst/>
                        <a:latin typeface="Times New Roman" panose="02020603050405020304" pitchFamily="18" charset="0"/>
                        <a:cs typeface="Times New Roman" panose="02020603050405020304" pitchFamily="18" charset="0"/>
                      </a:endParaRP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Valid Google OAuth or credentials</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User logged in successfully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Login successful</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80822">
                <a:tc>
                  <a:txBody>
                    <a:bodyPr/>
                    <a:lstStyle/>
                    <a:p>
                      <a:pPr algn="l"/>
                      <a:r>
                        <a:rPr lang="en-US" sz="1700" b="1">
                          <a:effectLst/>
                          <a:latin typeface="Times New Roman" panose="02020603050405020304" pitchFamily="18" charset="0"/>
                          <a:cs typeface="Times New Roman" panose="02020603050405020304" pitchFamily="18" charset="0"/>
                        </a:rPr>
                        <a:t>Invalid Login</a:t>
                      </a:r>
                      <a:endParaRPr lang="en-US" sz="1700">
                        <a:effectLst/>
                        <a:latin typeface="Times New Roman" panose="02020603050405020304" pitchFamily="18" charset="0"/>
                        <a:cs typeface="Times New Roman" panose="02020603050405020304" pitchFamily="18" charset="0"/>
                      </a:endParaRP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Wrong credentials</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Error message displayed on screen</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Error shown correctly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947230">
                <a:tc>
                  <a:txBody>
                    <a:bodyPr/>
                    <a:lstStyle/>
                    <a:p>
                      <a:pPr algn="l"/>
                      <a:r>
                        <a:rPr lang="en-US" sz="1700" b="1">
                          <a:effectLst/>
                          <a:latin typeface="Times New Roman" panose="02020603050405020304" pitchFamily="18" charset="0"/>
                          <a:cs typeface="Times New Roman" panose="02020603050405020304" pitchFamily="18" charset="0"/>
                        </a:rPr>
                        <a:t>File Upload Storage</a:t>
                      </a:r>
                      <a:endParaRPr lang="en-US" sz="1700">
                        <a:effectLst/>
                        <a:latin typeface="Times New Roman" panose="02020603050405020304" pitchFamily="18" charset="0"/>
                        <a:cs typeface="Times New Roman" panose="02020603050405020304" pitchFamily="18" charset="0"/>
                      </a:endParaRP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Document uploaded via frontend</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File saved securely, metadata stored in database</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Data stored successfully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80822">
                <a:tc>
                  <a:txBody>
                    <a:bodyPr/>
                    <a:lstStyle/>
                    <a:p>
                      <a:pPr algn="l"/>
                      <a:r>
                        <a:rPr lang="en-US" sz="1700" b="1">
                          <a:effectLst/>
                          <a:latin typeface="Times New Roman" panose="02020603050405020304" pitchFamily="18" charset="0"/>
                          <a:cs typeface="Times New Roman" panose="02020603050405020304" pitchFamily="18" charset="0"/>
                        </a:rPr>
                        <a:t>Data Retrieval</a:t>
                      </a:r>
                      <a:endParaRPr lang="en-US" sz="1700">
                        <a:effectLst/>
                        <a:latin typeface="Times New Roman" panose="02020603050405020304" pitchFamily="18" charset="0"/>
                        <a:cs typeface="Times New Roman" panose="02020603050405020304" pitchFamily="18" charset="0"/>
                      </a:endParaRP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User navigates to Notes Explorer</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Notes fetched from database and displayed</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a:effectLst/>
                          <a:latin typeface="Times New Roman" panose="02020603050405020304" pitchFamily="18" charset="0"/>
                          <a:cs typeface="Times New Roman" panose="02020603050405020304" pitchFamily="18" charset="0"/>
                        </a:rPr>
                        <a:t>Data displayed correctly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947230">
                <a:tc>
                  <a:txBody>
                    <a:bodyPr/>
                    <a:lstStyle/>
                    <a:p>
                      <a:pPr algn="l"/>
                      <a:r>
                        <a:rPr lang="en-US" sz="1700" b="1">
                          <a:effectLst/>
                          <a:latin typeface="Times New Roman" panose="02020603050405020304" pitchFamily="18" charset="0"/>
                          <a:cs typeface="Times New Roman" panose="02020603050405020304" pitchFamily="18" charset="0"/>
                        </a:rPr>
                        <a:t>Dashboard Display</a:t>
                      </a:r>
                      <a:endParaRPr lang="en-US" sz="1700">
                        <a:effectLst/>
                        <a:latin typeface="Times New Roman" panose="02020603050405020304" pitchFamily="18" charset="0"/>
                        <a:cs typeface="Times New Roman" panose="02020603050405020304" pitchFamily="18" charset="0"/>
                      </a:endParaRP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User opens the Home tab</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700">
                          <a:effectLst/>
                          <a:latin typeface="Times New Roman" panose="02020603050405020304" pitchFamily="18" charset="0"/>
                          <a:cs typeface="Times New Roman" panose="02020603050405020304" pitchFamily="18" charset="0"/>
                        </a:rPr>
                        <a:t>Real-time leaderboard and recent notes are visible</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700" dirty="0">
                          <a:effectLst/>
                          <a:latin typeface="Times New Roman" panose="02020603050405020304" pitchFamily="18" charset="0"/>
                          <a:cs typeface="Times New Roman" panose="02020603050405020304" pitchFamily="18" charset="0"/>
                        </a:rPr>
                        <a:t>Data shown correctly</a:t>
                      </a:r>
                    </a:p>
                  </a:txBody>
                  <a:tcPr marL="74002" marR="74002" marT="74002" marB="7400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896178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269798976"/>
              </p:ext>
            </p:extLst>
          </p:nvPr>
        </p:nvGraphicFramePr>
        <p:xfrm>
          <a:off x="430305" y="354566"/>
          <a:ext cx="10851777" cy="5909877"/>
        </p:xfrm>
        <a:graphic>
          <a:graphicData uri="http://schemas.openxmlformats.org/drawingml/2006/table">
            <a:tbl>
              <a:tblPr/>
              <a:tblGrid>
                <a:gridCol w="2218765"/>
                <a:gridCol w="4262718"/>
                <a:gridCol w="4370294"/>
              </a:tblGrid>
              <a:tr h="268924">
                <a:tc>
                  <a:txBody>
                    <a:bodyPr/>
                    <a:lstStyle/>
                    <a:p>
                      <a:pPr algn="l"/>
                      <a:r>
                        <a:rPr lang="en-US" sz="1600">
                          <a:effectLst/>
                          <a:latin typeface="Times New Roman" panose="02020603050405020304" pitchFamily="18" charset="0"/>
                          <a:cs typeface="Times New Roman" panose="02020603050405020304" pitchFamily="18" charset="0"/>
                        </a:rPr>
                        <a:t>Table Name</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600">
                          <a:effectLst/>
                          <a:latin typeface="Times New Roman" panose="02020603050405020304" pitchFamily="18" charset="0"/>
                          <a:cs typeface="Times New Roman" panose="02020603050405020304" pitchFamily="18" charset="0"/>
                        </a:rPr>
                        <a:t>Key Attributes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600">
                          <a:effectLst/>
                          <a:latin typeface="Times New Roman" panose="02020603050405020304" pitchFamily="18" charset="0"/>
                          <a:cs typeface="Times New Roman" panose="02020603050405020304" pitchFamily="18" charset="0"/>
                        </a:rPr>
                        <a:t>Description</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r>
              <a:tr h="621555">
                <a:tc>
                  <a:txBody>
                    <a:bodyPr/>
                    <a:lstStyle/>
                    <a:p>
                      <a:pPr algn="l"/>
                      <a:r>
                        <a:rPr lang="en-US" sz="1600">
                          <a:effectLst/>
                          <a:latin typeface="Times New Roman" panose="02020603050405020304" pitchFamily="18" charset="0"/>
                          <a:cs typeface="Times New Roman" panose="02020603050405020304" pitchFamily="18" charset="0"/>
                        </a:rPr>
                        <a:t>users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id (PK), name, email, department, semester, is_verified, id_card_hash</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Stores student profiles, authentication details, and AI ID verification status.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notes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id (PK), uploader_id (FK), title, subject, file_path, verified</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Contains metadata and file references for study materials uploaded by students.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note_embeddings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id (PK), note_id (FK), embedding, chunk_text</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Stores vector embeddings of notes for AI semantic search and plagiarism checks.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note_shingles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600">
                          <a:effectLst/>
                          <a:latin typeface="Times New Roman" panose="02020603050405020304" pitchFamily="18" charset="0"/>
                          <a:cs typeface="Times New Roman" panose="02020603050405020304" pitchFamily="18" charset="0"/>
                        </a:rPr>
                        <a:t>note_id (FK), shingle_hash, position</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Stores structural hashes (SimCheck) of notes to perform exact-match plagiarism detection.</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study_groups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id (PK), name, subject, creator_id (FK), created_at</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Represents collaborative study groups and channels created by users.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study_group_members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id (PK), group_id (FK), user_id (FK), joined_at</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Junction table mapping which students belong to which study groups.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group_invites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id (PK), group_id (FK), inviter_id (FK), invitee_email, status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Manages pending, accepted, or rejected invitations to join study groups.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help_requests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id (PK), user_id (FK), subject, message, status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dirty="0">
                          <a:effectLst/>
                          <a:latin typeface="Times New Roman" panose="02020603050405020304" pitchFamily="18" charset="0"/>
                          <a:cs typeface="Times New Roman" panose="02020603050405020304" pitchFamily="18" charset="0"/>
                        </a:rPr>
                        <a:t>Tracks academic questions or support requests raised by students on the platform.</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21555">
                <a:tc>
                  <a:txBody>
                    <a:bodyPr/>
                    <a:lstStyle/>
                    <a:p>
                      <a:pPr algn="l"/>
                      <a:r>
                        <a:rPr lang="en-US" sz="1600">
                          <a:effectLst/>
                          <a:latin typeface="Times New Roman" panose="02020603050405020304" pitchFamily="18" charset="0"/>
                          <a:cs typeface="Times New Roman" panose="02020603050405020304" pitchFamily="18" charset="0"/>
                        </a:rPr>
                        <a:t>broadcasts</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600">
                          <a:effectLst/>
                          <a:latin typeface="Times New Roman" panose="02020603050405020304" pitchFamily="18" charset="0"/>
                          <a:cs typeface="Times New Roman" panose="02020603050405020304" pitchFamily="18" charset="0"/>
                        </a:rPr>
                        <a:t>id (PK), user_id (FK), message, created_at</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IN" sz="1600" dirty="0">
                          <a:effectLst/>
                          <a:latin typeface="Times New Roman" panose="02020603050405020304" pitchFamily="18" charset="0"/>
                          <a:cs typeface="Times New Roman" panose="02020603050405020304" pitchFamily="18" charset="0"/>
                        </a:rPr>
                        <a:t>Stores announcements and messages broadcasted across the study platform.</a:t>
                      </a:r>
                    </a:p>
                  </a:txBody>
                  <a:tcPr marL="36021" marR="36021" marT="36021" marB="3602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181065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48EEA6-2F72-1F96-FD3D-9B73DDE7AE01}"/>
              </a:ext>
            </a:extLst>
          </p:cNvPr>
          <p:cNvSpPr>
            <a:spLocks noGrp="1"/>
          </p:cNvSpPr>
          <p:nvPr>
            <p:ph idx="1"/>
          </p:nvPr>
        </p:nvSpPr>
        <p:spPr>
          <a:xfrm>
            <a:off x="838200" y="1378772"/>
            <a:ext cx="10515600" cy="4798191"/>
          </a:xfrm>
        </p:spPr>
        <p:txBody>
          <a:bodyPr>
            <a:noAutofit/>
          </a:bodyPr>
          <a:lstStyle/>
          <a:p>
            <a:r>
              <a:rPr lang="en-IN" sz="2000" b="1" dirty="0" err="1">
                <a:latin typeface="Times New Roman" panose="02020603050405020304" pitchFamily="18" charset="0"/>
                <a:cs typeface="Times New Roman" panose="02020603050405020304" pitchFamily="18" charset="0"/>
              </a:rPr>
              <a:t>Auth</a:t>
            </a:r>
            <a:r>
              <a:rPr lang="en-IN" sz="2000" b="1" dirty="0">
                <a:latin typeface="Times New Roman" panose="02020603050405020304" pitchFamily="18" charset="0"/>
                <a:cs typeface="Times New Roman" panose="02020603050405020304" pitchFamily="18" charset="0"/>
              </a:rPr>
              <a:t> &amp; AI Verification:</a:t>
            </a:r>
            <a:r>
              <a:rPr lang="en-IN" sz="2000" dirty="0">
                <a:latin typeface="Times New Roman" panose="02020603050405020304" pitchFamily="18" charset="0"/>
                <a:cs typeface="Times New Roman" panose="02020603050405020304" pitchFamily="18" charset="0"/>
              </a:rPr>
              <a:t> Allows students to securely log in and automatically verifies their identity using multi-document uploads (ID card and </a:t>
            </a:r>
            <a:r>
              <a:rPr lang="en-IN" sz="2000" dirty="0" err="1">
                <a:latin typeface="Times New Roman" panose="02020603050405020304" pitchFamily="18" charset="0"/>
                <a:cs typeface="Times New Roman" panose="02020603050405020304" pitchFamily="18" charset="0"/>
              </a:rPr>
              <a:t>Bonafide</a:t>
            </a:r>
            <a:r>
              <a:rPr lang="en-IN" sz="2000" dirty="0">
                <a:latin typeface="Times New Roman" panose="02020603050405020304" pitchFamily="18" charset="0"/>
                <a:cs typeface="Times New Roman" panose="02020603050405020304" pitchFamily="18" charset="0"/>
              </a:rPr>
              <a:t> certificate).</a:t>
            </a:r>
          </a:p>
          <a:p>
            <a:r>
              <a:rPr lang="en-IN" sz="2000" b="1" dirty="0">
                <a:latin typeface="Times New Roman" panose="02020603050405020304" pitchFamily="18" charset="0"/>
                <a:cs typeface="Times New Roman" panose="02020603050405020304" pitchFamily="18" charset="0"/>
              </a:rPr>
              <a:t>Home / Dashboard:</a:t>
            </a:r>
            <a:r>
              <a:rPr lang="en-IN" sz="2000" dirty="0">
                <a:latin typeface="Times New Roman" panose="02020603050405020304" pitchFamily="18" charset="0"/>
                <a:cs typeface="Times New Roman" panose="02020603050405020304" pitchFamily="18" charset="0"/>
              </a:rPr>
              <a:t> The central hub displaying recent notes, active study groups, and quick access to collaboration tools.</a:t>
            </a:r>
          </a:p>
          <a:p>
            <a:r>
              <a:rPr lang="en-IN" sz="2000" b="1" dirty="0">
                <a:latin typeface="Times New Roman" panose="02020603050405020304" pitchFamily="18" charset="0"/>
                <a:cs typeface="Times New Roman" panose="02020603050405020304" pitchFamily="18" charset="0"/>
              </a:rPr>
              <a:t>Notes Explorer:</a:t>
            </a:r>
            <a:r>
              <a:rPr lang="en-IN" sz="2000" dirty="0">
                <a:latin typeface="Times New Roman" panose="02020603050405020304" pitchFamily="18" charset="0"/>
                <a:cs typeface="Times New Roman" panose="02020603050405020304" pitchFamily="18" charset="0"/>
              </a:rPr>
              <a:t> An advanced search interface allowing students to browse, filter, and access study materials powered by AI semantic search.</a:t>
            </a:r>
          </a:p>
          <a:p>
            <a:r>
              <a:rPr lang="en-IN" sz="2000" b="1" dirty="0" err="1">
                <a:latin typeface="Times New Roman" panose="02020603050405020304" pitchFamily="18" charset="0"/>
                <a:cs typeface="Times New Roman" panose="02020603050405020304" pitchFamily="18" charset="0"/>
              </a:rPr>
              <a:t>Leaderboard</a:t>
            </a:r>
            <a:r>
              <a:rPr lang="en-IN" sz="2000" b="1" dirty="0">
                <a:latin typeface="Times New Roman" panose="02020603050405020304" pitchFamily="18" charset="0"/>
                <a:cs typeface="Times New Roman" panose="02020603050405020304" pitchFamily="18" charset="0"/>
              </a:rPr>
              <a:t> ("Battle for the Flare"):</a:t>
            </a:r>
            <a:r>
              <a:rPr lang="en-IN" sz="2000" dirty="0">
                <a:latin typeface="Times New Roman" panose="02020603050405020304" pitchFamily="18" charset="0"/>
                <a:cs typeface="Times New Roman" panose="02020603050405020304" pitchFamily="18" charset="0"/>
              </a:rPr>
              <a:t> A dynamic, gamified ranking screen displaying top-performing students and winning departments, complete with visual glowing flair effects.</a:t>
            </a:r>
          </a:p>
          <a:p>
            <a:r>
              <a:rPr lang="en-IN" sz="2000" b="1" dirty="0">
                <a:latin typeface="Times New Roman" panose="02020603050405020304" pitchFamily="18" charset="0"/>
                <a:cs typeface="Times New Roman" panose="02020603050405020304" pitchFamily="18" charset="0"/>
              </a:rPr>
              <a:t>Profile &amp; Upload Modal:</a:t>
            </a:r>
            <a:r>
              <a:rPr lang="en-IN" sz="2000" dirty="0">
                <a:latin typeface="Times New Roman" panose="02020603050405020304" pitchFamily="18" charset="0"/>
                <a:cs typeface="Times New Roman" panose="02020603050405020304" pitchFamily="18" charset="0"/>
              </a:rPr>
              <a:t> Shows the student's personal statistics (like their points and 1.1x multiplier status) and provides a seamless drag-and-drop interface for uploading new notes, which automatically triggers the anti-plagiarism flow.</a:t>
            </a:r>
          </a:p>
        </p:txBody>
      </p:sp>
      <p:sp>
        <p:nvSpPr>
          <p:cNvPr id="5" name="Rectangle 1">
            <a:extLst>
              <a:ext uri="{FF2B5EF4-FFF2-40B4-BE49-F238E27FC236}">
                <a16:creationId xmlns:a16="http://schemas.microsoft.com/office/drawing/2014/main" xmlns="" id="{6926A3A3-2325-2875-6520-4380024EC8B8}"/>
              </a:ext>
            </a:extLst>
          </p:cNvPr>
          <p:cNvSpPr>
            <a:spLocks noGrp="1" noChangeArrowheads="1"/>
          </p:cNvSpPr>
          <p:nvPr>
            <p:ph type="title"/>
          </p:nvPr>
        </p:nvSpPr>
        <p:spPr bwMode="auto">
          <a:xfrm>
            <a:off x="581526" y="357871"/>
            <a:ext cx="31069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4000" dirty="0">
                <a:solidFill>
                  <a:srgbClr val="000000"/>
                </a:solidFill>
                <a:latin typeface="Times New Roman" panose="02020603050405020304" pitchFamily="18" charset="0"/>
                <a:cs typeface="Times New Roman" panose="02020603050405020304" pitchFamily="18" charset="0"/>
              </a:rPr>
              <a:t>User Interface</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4926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655"/>
            <a:ext cx="10515600" cy="1325563"/>
          </a:xfrm>
        </p:spPr>
        <p:txBody>
          <a:bodyPr>
            <a:normAutofit/>
          </a:bodyPr>
          <a:lstStyle/>
          <a:p>
            <a:r>
              <a:rPr lang="en-IN" sz="4000" dirty="0" smtClean="0">
                <a:latin typeface="Times New Roman" panose="02020603050405020304" pitchFamily="18" charset="0"/>
                <a:cs typeface="Times New Roman" panose="02020603050405020304" pitchFamily="18" charset="0"/>
              </a:rPr>
              <a:t>Results</a:t>
            </a:r>
            <a:endParaRPr lang="en-US" sz="4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95108" y="1348581"/>
            <a:ext cx="5801784" cy="4351338"/>
          </a:xfrm>
        </p:spPr>
        <p:style>
          <a:lnRef idx="2">
            <a:schemeClr val="dk1"/>
          </a:lnRef>
          <a:fillRef idx="1">
            <a:schemeClr val="lt1"/>
          </a:fillRef>
          <a:effectRef idx="0">
            <a:schemeClr val="dk1"/>
          </a:effectRef>
          <a:fontRef idx="minor">
            <a:schemeClr val="dk1"/>
          </a:fontRef>
        </p:style>
      </p:pic>
      <p:sp>
        <p:nvSpPr>
          <p:cNvPr id="6" name="TextBox 5"/>
          <p:cNvSpPr txBox="1"/>
          <p:nvPr/>
        </p:nvSpPr>
        <p:spPr>
          <a:xfrm>
            <a:off x="4047565" y="5970494"/>
            <a:ext cx="5889812"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 Plagiarism Scan Outcomes (Pie Chart)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57324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6073" y="484087"/>
            <a:ext cx="9144019" cy="5486411"/>
          </a:xfrm>
          <a:prstGeom prst="rect">
            <a:avLst/>
          </a:prstGeom>
          <a:ln>
            <a:solidFill>
              <a:schemeClr val="tx1"/>
            </a:solidFill>
          </a:ln>
        </p:spPr>
      </p:pic>
      <p:sp>
        <p:nvSpPr>
          <p:cNvPr id="3" name="TextBox 2"/>
          <p:cNvSpPr txBox="1"/>
          <p:nvPr/>
        </p:nvSpPr>
        <p:spPr>
          <a:xfrm>
            <a:off x="3576919" y="6158753"/>
            <a:ext cx="5042646" cy="37651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2. User Engagement by Department (Bar Chart</a:t>
            </a:r>
            <a:r>
              <a:rPr lang="en-IN" b="1"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74097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99E2B790-B8DB-4CED-BB90-DD95BE8D4B89}"/>
              </a:ext>
            </a:extLst>
          </p:cNvPr>
          <p:cNvGraphicFramePr>
            <a:graphicFrameLocks noGrp="1"/>
          </p:cNvGraphicFramePr>
          <p:nvPr>
            <p:extLst>
              <p:ext uri="{D42A27DB-BD31-4B8C-83A1-F6EECF244321}">
                <p14:modId xmlns:p14="http://schemas.microsoft.com/office/powerpoint/2010/main" val="2106316737"/>
              </p:ext>
            </p:extLst>
          </p:nvPr>
        </p:nvGraphicFramePr>
        <p:xfrm>
          <a:off x="748748" y="558566"/>
          <a:ext cx="4664765" cy="701040"/>
        </p:xfrm>
        <a:graphic>
          <a:graphicData uri="http://schemas.openxmlformats.org/drawingml/2006/table">
            <a:tbl>
              <a:tblPr/>
              <a:tblGrid>
                <a:gridCol w="4664765">
                  <a:extLst>
                    <a:ext uri="{9D8B030D-6E8A-4147-A177-3AD203B41FA5}">
                      <a16:colId xmlns:a16="http://schemas.microsoft.com/office/drawing/2014/main" xmlns="" val="1251889327"/>
                    </a:ext>
                  </a:extLst>
                </a:gridCol>
              </a:tblGrid>
              <a:tr h="0">
                <a:tc>
                  <a:txBody>
                    <a:bodyPr/>
                    <a:lstStyle/>
                    <a:p>
                      <a:pPr>
                        <a:buNone/>
                      </a:pPr>
                      <a:r>
                        <a:rPr lang="en-IN" sz="4000" b="0" i="0" dirty="0">
                          <a:solidFill>
                            <a:srgbClr val="000000"/>
                          </a:solidFill>
                          <a:effectLst/>
                          <a:latin typeface="Times New Roman" panose="02020603050405020304" pitchFamily="18" charset="0"/>
                          <a:cs typeface="Times New Roman" panose="02020603050405020304" pitchFamily="18" charset="0"/>
                        </a:rPr>
                        <a:t>Technology stack</a:t>
                      </a:r>
                      <a:endParaRPr lang="en-IN" sz="4800" b="0" dirty="0">
                        <a:effectLs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xmlns="" val="666076945"/>
                  </a:ext>
                </a:extLst>
              </a:tr>
            </a:tbl>
          </a:graphicData>
        </a:graphic>
      </p:graphicFrame>
      <p:sp>
        <p:nvSpPr>
          <p:cNvPr id="5" name="Rectangle 1">
            <a:extLst>
              <a:ext uri="{FF2B5EF4-FFF2-40B4-BE49-F238E27FC236}">
                <a16:creationId xmlns:a16="http://schemas.microsoft.com/office/drawing/2014/main" xmlns="" id="{0D580DE7-A4E8-BFE1-9AE2-41EEF30215E5}"/>
              </a:ext>
            </a:extLst>
          </p:cNvPr>
          <p:cNvSpPr>
            <a:spLocks noGrp="1" noChangeArrowheads="1"/>
          </p:cNvSpPr>
          <p:nvPr>
            <p:ph type="title"/>
          </p:nvPr>
        </p:nvSpPr>
        <p:spPr bwMode="auto">
          <a:xfrm>
            <a:off x="291548" y="-2487406"/>
            <a:ext cx="105156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Content Placeholder 12"/>
          <p:cNvSpPr>
            <a:spLocks noGrp="1"/>
          </p:cNvSpPr>
          <p:nvPr>
            <p:ph idx="1"/>
          </p:nvPr>
        </p:nvSpPr>
        <p:spPr>
          <a:xfrm>
            <a:off x="748748" y="1532965"/>
            <a:ext cx="5598264" cy="3711388"/>
          </a:xfrm>
        </p:spPr>
        <p:txBody>
          <a:bodyPr>
            <a:noAutofit/>
          </a:bodyPr>
          <a:lstStyle/>
          <a:p>
            <a:pPr marL="0" indent="0">
              <a:buNone/>
            </a:pPr>
            <a:r>
              <a:rPr lang="en-US" sz="1800" dirty="0" smtClean="0">
                <a:latin typeface="Times New Roman" panose="02020603050405020304" pitchFamily="18" charset="0"/>
                <a:cs typeface="Times New Roman" panose="02020603050405020304" pitchFamily="18" charset="0"/>
              </a:rPr>
              <a:t>➤ Core </a:t>
            </a:r>
            <a:r>
              <a:rPr lang="en-US" sz="1800" dirty="0">
                <a:latin typeface="Times New Roman" panose="02020603050405020304" pitchFamily="18" charset="0"/>
                <a:cs typeface="Times New Roman" panose="02020603050405020304" pitchFamily="18" charset="0"/>
              </a:rPr>
              <a:t>Software </a:t>
            </a:r>
            <a:r>
              <a:rPr lang="en-US" sz="1800" dirty="0" smtClean="0">
                <a:latin typeface="Times New Roman" panose="02020603050405020304" pitchFamily="18" charset="0"/>
                <a:cs typeface="Times New Roman" panose="02020603050405020304" pitchFamily="18" charset="0"/>
              </a:rPr>
              <a:t>Stack  </a:t>
            </a:r>
            <a:endParaRPr lang="en-US" sz="1800" dirty="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    Frontend:   </a:t>
            </a:r>
            <a:r>
              <a:rPr lang="en-US" sz="1800" dirty="0">
                <a:latin typeface="Times New Roman" panose="02020603050405020304" pitchFamily="18" charset="0"/>
                <a:cs typeface="Times New Roman" panose="02020603050405020304" pitchFamily="18" charset="0"/>
              </a:rPr>
              <a:t>React.js with </a:t>
            </a:r>
            <a:r>
              <a:rPr lang="en-US" sz="1800" dirty="0" err="1">
                <a:latin typeface="Times New Roman" panose="02020603050405020304" pitchFamily="18" charset="0"/>
                <a:cs typeface="Times New Roman" panose="02020603050405020304" pitchFamily="18" charset="0"/>
              </a:rPr>
              <a:t>TypeScript</a:t>
            </a:r>
            <a:r>
              <a:rPr lang="en-US" sz="1800" dirty="0">
                <a:latin typeface="Times New Roman" panose="02020603050405020304" pitchFamily="18" charset="0"/>
                <a:cs typeface="Times New Roman" panose="02020603050405020304" pitchFamily="18" charset="0"/>
              </a:rPr>
              <a:t> (using `.</a:t>
            </a:r>
            <a:r>
              <a:rPr lang="en-US" sz="1800" dirty="0" err="1">
                <a:latin typeface="Times New Roman" panose="02020603050405020304" pitchFamily="18" charset="0"/>
                <a:cs typeface="Times New Roman" panose="02020603050405020304" pitchFamily="18" charset="0"/>
              </a:rPr>
              <a:t>tsx</a:t>
            </a:r>
            <a:r>
              <a:rPr lang="en-US" sz="1800" dirty="0">
                <a:latin typeface="Times New Roman" panose="02020603050405020304" pitchFamily="18" charset="0"/>
                <a:cs typeface="Times New Roman" panose="02020603050405020304" pitchFamily="18" charset="0"/>
              </a:rPr>
              <a:t>` modules) and React Router for seamless navigation.</a:t>
            </a:r>
          </a:p>
          <a:p>
            <a:r>
              <a:rPr lang="en-US" sz="1800" dirty="0" smtClean="0">
                <a:latin typeface="Times New Roman" panose="02020603050405020304" pitchFamily="18" charset="0"/>
                <a:cs typeface="Times New Roman" panose="02020603050405020304" pitchFamily="18" charset="0"/>
              </a:rPr>
              <a:t>    Backend:   </a:t>
            </a:r>
            <a:r>
              <a:rPr lang="en-US" sz="1800" dirty="0">
                <a:latin typeface="Times New Roman" panose="02020603050405020304" pitchFamily="18" charset="0"/>
                <a:cs typeface="Times New Roman" panose="02020603050405020304" pitchFamily="18" charset="0"/>
              </a:rPr>
              <a:t>Node.js with Express.js for robust API routing.</a:t>
            </a:r>
          </a:p>
          <a:p>
            <a:r>
              <a:rPr lang="en-US" sz="1800" dirty="0" smtClean="0">
                <a:latin typeface="Times New Roman" panose="02020603050405020304" pitchFamily="18" charset="0"/>
                <a:cs typeface="Times New Roman" panose="02020603050405020304" pitchFamily="18" charset="0"/>
              </a:rPr>
              <a:t>    Database:   </a:t>
            </a:r>
            <a:r>
              <a:rPr lang="en-US" sz="1800" dirty="0">
                <a:latin typeface="Times New Roman" panose="02020603050405020304" pitchFamily="18" charset="0"/>
                <a:cs typeface="Times New Roman" panose="02020603050405020304" pitchFamily="18" charset="0"/>
              </a:rPr>
              <a:t>PostgreSQL (handling relational data like users, study groups, and utilizing vector extensions for </a:t>
            </a:r>
            <a:r>
              <a:rPr lang="en-US" sz="1800" dirty="0" err="1">
                <a:latin typeface="Times New Roman" panose="02020603050405020304" pitchFamily="18" charset="0"/>
                <a:cs typeface="Times New Roman" panose="02020603050405020304" pitchFamily="18" charset="0"/>
              </a:rPr>
              <a:t>embeddings</a:t>
            </a:r>
            <a:r>
              <a:rPr lang="en-US" sz="1800" dirty="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    IDE </a:t>
            </a:r>
            <a:r>
              <a:rPr lang="en-US" sz="1800" dirty="0">
                <a:latin typeface="Times New Roman" panose="02020603050405020304" pitchFamily="18" charset="0"/>
                <a:cs typeface="Times New Roman" panose="02020603050405020304" pitchFamily="18" charset="0"/>
              </a:rPr>
              <a:t>&amp; Version Control</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VS Code, </a:t>
            </a:r>
            <a:r>
              <a:rPr lang="en-US" sz="1800" dirty="0" err="1">
                <a:latin typeface="Times New Roman" panose="02020603050405020304" pitchFamily="18" charset="0"/>
                <a:cs typeface="Times New Roman" panose="02020603050405020304" pitchFamily="18" charset="0"/>
              </a:rPr>
              <a:t>Git</a:t>
            </a:r>
            <a:r>
              <a:rPr lang="en-US" sz="1800" dirty="0">
                <a:latin typeface="Times New Roman" panose="02020603050405020304" pitchFamily="18" charset="0"/>
                <a:cs typeface="Times New Roman" panose="02020603050405020304" pitchFamily="18" charset="0"/>
              </a:rPr>
              <a:t> / GitHub.</a:t>
            </a:r>
          </a:p>
          <a:p>
            <a:r>
              <a:rPr lang="en-US" sz="1800" dirty="0" smtClean="0">
                <a:latin typeface="Times New Roman" panose="02020603050405020304" pitchFamily="18" charset="0"/>
                <a:cs typeface="Times New Roman" panose="02020603050405020304" pitchFamily="18" charset="0"/>
              </a:rPr>
              <a:t>    Communication </a:t>
            </a:r>
            <a:r>
              <a:rPr lang="en-US" sz="1800" dirty="0">
                <a:latin typeface="Times New Roman" panose="02020603050405020304" pitchFamily="18" charset="0"/>
                <a:cs typeface="Times New Roman" panose="02020603050405020304" pitchFamily="18" charset="0"/>
              </a:rPr>
              <a:t>Protocol</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RESTful HTTP/HTTPS APIs for client-server data exchange</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6804212" y="1199126"/>
            <a:ext cx="4773706" cy="535531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AI, Security &amp; Processing Modules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Identity Verification AI:   Advanced prompt engineering with neural guardrails to cross-reference multi-document uploads (ID Cards and </a:t>
            </a:r>
            <a:r>
              <a:rPr lang="en-US" dirty="0" err="1">
                <a:latin typeface="Times New Roman" panose="02020603050405020304" pitchFamily="18" charset="0"/>
                <a:cs typeface="Times New Roman" panose="02020603050405020304" pitchFamily="18" charset="0"/>
              </a:rPr>
              <a:t>Bonafide</a:t>
            </a:r>
            <a:r>
              <a:rPr lang="en-US" dirty="0">
                <a:latin typeface="Times New Roman" panose="02020603050405020304" pitchFamily="18" charset="0"/>
                <a:cs typeface="Times New Roman" panose="02020603050405020304" pitchFamily="18" charset="0"/>
              </a:rPr>
              <a:t> Certificates).</a:t>
            </a:r>
          </a:p>
          <a:p>
            <a:r>
              <a:rPr lang="en-US" dirty="0">
                <a:latin typeface="Times New Roman" panose="02020603050405020304" pitchFamily="18" charset="0"/>
                <a:cs typeface="Times New Roman" panose="02020603050405020304" pitchFamily="18" charset="0"/>
              </a:rPr>
              <a:t>    Anti-Plagiarism Engine:   </a:t>
            </a:r>
          </a:p>
          <a:p>
            <a:r>
              <a:rPr lang="en-US" dirty="0">
                <a:latin typeface="Times New Roman" panose="02020603050405020304" pitchFamily="18" charset="0"/>
                <a:cs typeface="Times New Roman" panose="02020603050405020304" pitchFamily="18" charset="0"/>
              </a:rPr>
              <a:t>     Structural Hashing:  Text shingling (</a:t>
            </a:r>
            <a:r>
              <a:rPr lang="en-US" dirty="0" err="1">
                <a:latin typeface="Times New Roman" panose="02020603050405020304" pitchFamily="18" charset="0"/>
                <a:cs typeface="Times New Roman" panose="02020603050405020304" pitchFamily="18" charset="0"/>
              </a:rPr>
              <a:t>SimCheck</a:t>
            </a:r>
            <a:r>
              <a:rPr lang="en-US" dirty="0">
                <a:latin typeface="Times New Roman" panose="02020603050405020304" pitchFamily="18" charset="0"/>
                <a:cs typeface="Times New Roman" panose="02020603050405020304" pitchFamily="18" charset="0"/>
              </a:rPr>
              <a:t>) and Perceptual Hashing (</a:t>
            </a:r>
            <a:r>
              <a:rPr lang="en-US" dirty="0" err="1">
                <a:latin typeface="Times New Roman" panose="02020603050405020304" pitchFamily="18" charset="0"/>
                <a:cs typeface="Times New Roman" panose="02020603050405020304" pitchFamily="18" charset="0"/>
              </a:rPr>
              <a:t>pHash</a:t>
            </a:r>
            <a:r>
              <a:rPr lang="en-US" dirty="0">
                <a:latin typeface="Times New Roman" panose="02020603050405020304" pitchFamily="18" charset="0"/>
                <a:cs typeface="Times New Roman" panose="02020603050405020304" pitchFamily="18" charset="0"/>
              </a:rPr>
              <a:t>) for exact-match detection.</a:t>
            </a:r>
          </a:p>
          <a:p>
            <a:r>
              <a:rPr lang="en-US" dirty="0">
                <a:latin typeface="Times New Roman" panose="02020603050405020304" pitchFamily="18" charset="0"/>
                <a:cs typeface="Times New Roman" panose="02020603050405020304" pitchFamily="18" charset="0"/>
              </a:rPr>
              <a:t>     Semantic Search:  Vector embedding generation to detect deep contextual similarities in study materials.</a:t>
            </a:r>
          </a:p>
          <a:p>
            <a:r>
              <a:rPr lang="en-US" dirty="0">
                <a:latin typeface="Times New Roman" panose="02020603050405020304" pitchFamily="18" charset="0"/>
                <a:cs typeface="Times New Roman" panose="02020603050405020304" pitchFamily="18" charset="0"/>
              </a:rPr>
              <a:t>    Security &amp; Authentication:   Secure token-based session management and cryptographic image hashing to eliminate duplicate/fake accounts.</a:t>
            </a:r>
          </a:p>
          <a:p>
            <a:endParaRPr lang="en-US" dirty="0"/>
          </a:p>
        </p:txBody>
      </p:sp>
    </p:spTree>
    <p:extLst>
      <p:ext uri="{BB962C8B-B14F-4D97-AF65-F5344CB8AC3E}">
        <p14:creationId xmlns:p14="http://schemas.microsoft.com/office/powerpoint/2010/main" val="19972011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DDF3AEE-2D8D-FECF-06D0-EFB3DEAB5BF0}"/>
              </a:ext>
            </a:extLst>
          </p:cNvPr>
          <p:cNvSpPr>
            <a:spLocks noGrp="1"/>
          </p:cNvSpPr>
          <p:nvPr>
            <p:ph idx="1"/>
          </p:nvPr>
        </p:nvSpPr>
        <p:spPr>
          <a:xfrm>
            <a:off x="853889" y="1024731"/>
            <a:ext cx="10134599" cy="4351338"/>
          </a:xfrm>
        </p:spPr>
        <p:txBody>
          <a:bodyPr>
            <a:noAutofit/>
          </a:bodyPr>
          <a:lstStyle/>
          <a:p>
            <a:pPr marL="457200" lvl="1" indent="0">
              <a:lnSpc>
                <a:spcPct val="110000"/>
              </a:lnSpc>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System Testing</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Tests the </a:t>
            </a:r>
            <a:r>
              <a:rPr lang="en-US" sz="2000" b="1" dirty="0">
                <a:latin typeface="Times New Roman" panose="02020603050405020304" pitchFamily="18" charset="0"/>
                <a:cs typeface="Times New Roman" panose="02020603050405020304" pitchFamily="18" charset="0"/>
              </a:rPr>
              <a:t>complete system as a whole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Validates the end-to-end workflow: </a:t>
            </a:r>
            <a:r>
              <a:rPr lang="en-US" sz="2000" b="1" dirty="0">
                <a:latin typeface="Times New Roman" panose="02020603050405020304" pitchFamily="18" charset="0"/>
                <a:cs typeface="Times New Roman" panose="02020603050405020304" pitchFamily="18" charset="0"/>
              </a:rPr>
              <a:t>user interface ➔ backend APIs ➔ database ➔ AI processing engines ➔ UI updates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Checks system performance under </a:t>
            </a:r>
            <a:r>
              <a:rPr lang="en-US" sz="2000" b="1" dirty="0">
                <a:latin typeface="Times New Roman" panose="02020603050405020304" pitchFamily="18" charset="0"/>
                <a:cs typeface="Times New Roman" panose="02020603050405020304" pitchFamily="18" charset="0"/>
              </a:rPr>
              <a:t>real-world conditions</a:t>
            </a:r>
            <a:r>
              <a:rPr lang="en-US" sz="2000" dirty="0">
                <a:latin typeface="Times New Roman" panose="02020603050405020304" pitchFamily="18" charset="0"/>
                <a:cs typeface="Times New Roman" panose="02020603050405020304" pitchFamily="18" charset="0"/>
              </a:rPr>
              <a:t> (e.g., handling multiple simultaneous document uploads and concurrent AI semantic search queries).</a:t>
            </a:r>
          </a:p>
          <a:p>
            <a:r>
              <a:rPr lang="en-US" sz="2000" dirty="0">
                <a:latin typeface="Times New Roman" panose="02020603050405020304" pitchFamily="18" charset="0"/>
                <a:cs typeface="Times New Roman" panose="02020603050405020304" pitchFamily="18" charset="0"/>
              </a:rPr>
              <a:t>Ensures the system completely meets </a:t>
            </a:r>
            <a:r>
              <a:rPr lang="en-US" sz="2000" b="1" dirty="0">
                <a:latin typeface="Times New Roman" panose="02020603050405020304" pitchFamily="18" charset="0"/>
                <a:cs typeface="Times New Roman" panose="02020603050405020304" pitchFamily="18" charset="0"/>
              </a:rPr>
              <a:t>functional and user requirements</a:t>
            </a:r>
            <a:r>
              <a:rPr lang="en-US" sz="2000" dirty="0">
                <a:latin typeface="Times New Roman" panose="02020603050405020304" pitchFamily="18" charset="0"/>
                <a:cs typeface="Times New Roman" panose="02020603050405020304" pitchFamily="18" charset="0"/>
              </a:rPr>
              <a:t> for the gamified, collaborative learning platform.</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4807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1678"/>
            <a:ext cx="10515600" cy="1325563"/>
          </a:xfrm>
        </p:spPr>
        <p:txBody>
          <a:bodyPr>
            <a:normAutofit/>
          </a:bodyPr>
          <a:lstStyle/>
          <a:p>
            <a:r>
              <a:rPr lang="en-IN" sz="4000" dirty="0" smtClean="0">
                <a:latin typeface="Times New Roman" panose="02020603050405020304" pitchFamily="18" charset="0"/>
                <a:cs typeface="Times New Roman" panose="02020603050405020304" pitchFamily="18" charset="0"/>
              </a:rPr>
              <a:t>Acknowledgement</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I would like to express my deepest gratitude to everyone who contributed to the successful design and development of the </a:t>
            </a:r>
            <a:r>
              <a:rPr lang="en-IN" sz="2000" b="1" dirty="0" err="1">
                <a:latin typeface="Times New Roman" panose="02020603050405020304" pitchFamily="18" charset="0"/>
                <a:cs typeface="Times New Roman" panose="02020603050405020304" pitchFamily="18" charset="0"/>
              </a:rPr>
              <a:t>NoteHub</a:t>
            </a:r>
            <a:r>
              <a:rPr lang="en-IN" sz="2000" dirty="0">
                <a:latin typeface="Times New Roman" panose="02020603050405020304" pitchFamily="18" charset="0"/>
                <a:cs typeface="Times New Roman" panose="02020603050405020304" pitchFamily="18" charset="0"/>
              </a:rPr>
              <a:t> project.</a:t>
            </a:r>
          </a:p>
          <a:p>
            <a:r>
              <a:rPr lang="en-IN" sz="2000" b="1" dirty="0">
                <a:latin typeface="Times New Roman" panose="02020603050405020304" pitchFamily="18" charset="0"/>
                <a:cs typeface="Times New Roman" panose="02020603050405020304" pitchFamily="18" charset="0"/>
              </a:rPr>
              <a:t>To my Project Guide / Mentor:</a:t>
            </a:r>
            <a:r>
              <a:rPr lang="en-IN" sz="2000" dirty="0">
                <a:latin typeface="Times New Roman" panose="02020603050405020304" pitchFamily="18" charset="0"/>
                <a:cs typeface="Times New Roman" panose="02020603050405020304" pitchFamily="18" charset="0"/>
              </a:rPr>
              <a:t> For their continuous guidance, invaluable technical feedback, and unwavering support throughout the entire development lifecycle of this platform.</a:t>
            </a:r>
          </a:p>
          <a:p>
            <a:r>
              <a:rPr lang="en-IN" sz="2000" b="1" dirty="0">
                <a:latin typeface="Times New Roman" panose="02020603050405020304" pitchFamily="18" charset="0"/>
                <a:cs typeface="Times New Roman" panose="02020603050405020304" pitchFamily="18" charset="0"/>
              </a:rPr>
              <a:t>To the Institution &amp; Faculty:</a:t>
            </a:r>
            <a:r>
              <a:rPr lang="en-IN" sz="2000" dirty="0">
                <a:latin typeface="Times New Roman" panose="02020603050405020304" pitchFamily="18" charset="0"/>
                <a:cs typeface="Times New Roman" panose="02020603050405020304" pitchFamily="18" charset="0"/>
              </a:rPr>
              <a:t> For providing the foundational knowledge, resources, and the academic environment necessary to bring this project to life.</a:t>
            </a:r>
          </a:p>
          <a:p>
            <a:r>
              <a:rPr lang="en-IN" sz="2000" b="1" dirty="0">
                <a:latin typeface="Times New Roman" panose="02020603050405020304" pitchFamily="18" charset="0"/>
                <a:cs typeface="Times New Roman" panose="02020603050405020304" pitchFamily="18" charset="0"/>
              </a:rPr>
              <a:t>To my Collaborators &amp; Peers:</a:t>
            </a:r>
            <a:r>
              <a:rPr lang="en-IN" sz="2000" dirty="0">
                <a:latin typeface="Times New Roman" panose="02020603050405020304" pitchFamily="18" charset="0"/>
                <a:cs typeface="Times New Roman" panose="02020603050405020304" pitchFamily="18" charset="0"/>
              </a:rPr>
              <a:t> For their constructive discussions, rigorous beta-testing of the AI features, and constant encouragement.</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880836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1336"/>
            <a:ext cx="10515600" cy="1325563"/>
          </a:xfrm>
        </p:spPr>
        <p:txBody>
          <a:bodyPr>
            <a:normAutofit/>
          </a:bodyPr>
          <a:lstStyle/>
          <a:p>
            <a:r>
              <a:rPr lang="en-IN" sz="4000" dirty="0">
                <a:latin typeface="Times New Roman" panose="02020603050405020304" pitchFamily="18" charset="0"/>
                <a:cs typeface="Times New Roman" panose="02020603050405020304" pitchFamily="18" charset="0"/>
              </a:rPr>
              <a:t>Discussion &amp; </a:t>
            </a:r>
            <a:r>
              <a:rPr lang="en-IN" sz="4000" dirty="0" smtClean="0">
                <a:latin typeface="Times New Roman" panose="02020603050405020304" pitchFamily="18" charset="0"/>
                <a:cs typeface="Times New Roman" panose="02020603050405020304" pitchFamily="18" charset="0"/>
              </a:rPr>
              <a:t>Analysis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sz="2000" b="1" dirty="0" smtClean="0">
                <a:latin typeface="Times New Roman" panose="02020603050405020304" pitchFamily="18" charset="0"/>
                <a:cs typeface="Times New Roman" panose="02020603050405020304" pitchFamily="18" charset="0"/>
              </a:rPr>
              <a:t>System </a:t>
            </a:r>
            <a:r>
              <a:rPr lang="en-IN" sz="2000" b="1" dirty="0">
                <a:latin typeface="Times New Roman" panose="02020603050405020304" pitchFamily="18" charset="0"/>
                <a:cs typeface="Times New Roman" panose="02020603050405020304" pitchFamily="18" charset="0"/>
              </a:rPr>
              <a:t>Performance vs. Expectations:</a:t>
            </a:r>
            <a:r>
              <a:rPr lang="en-IN" sz="2000" dirty="0">
                <a:latin typeface="Times New Roman" panose="02020603050405020304" pitchFamily="18" charset="0"/>
                <a:cs typeface="Times New Roman" panose="02020603050405020304" pitchFamily="18" charset="0"/>
              </a:rPr>
              <a:t> The initial goal was to build a standard, secure repository for academic notes. The final implementation successfully met and exceeded this expectation by fully integrating automated AI identity verification and a rigorous </a:t>
            </a:r>
            <a:r>
              <a:rPr lang="en-IN" sz="2000" dirty="0" err="1">
                <a:latin typeface="Times New Roman" panose="02020603050405020304" pitchFamily="18" charset="0"/>
                <a:cs typeface="Times New Roman" panose="02020603050405020304" pitchFamily="18" charset="0"/>
              </a:rPr>
              <a:t>SimCheck</a:t>
            </a:r>
            <a:r>
              <a:rPr lang="en-IN" sz="2000" dirty="0">
                <a:latin typeface="Times New Roman" panose="02020603050405020304" pitchFamily="18" charset="0"/>
                <a:cs typeface="Times New Roman" panose="02020603050405020304" pitchFamily="18" charset="0"/>
              </a:rPr>
              <a:t> anti-plagiarism system.</a:t>
            </a:r>
          </a:p>
          <a:p>
            <a:r>
              <a:rPr lang="en-IN" sz="2000" b="1" dirty="0">
                <a:latin typeface="Times New Roman" panose="02020603050405020304" pitchFamily="18" charset="0"/>
                <a:cs typeface="Times New Roman" panose="02020603050405020304" pitchFamily="18" charset="0"/>
              </a:rPr>
              <a:t>Impact of Gamification:</a:t>
            </a:r>
            <a:r>
              <a:rPr lang="en-IN" sz="2000" dirty="0">
                <a:latin typeface="Times New Roman" panose="02020603050405020304" pitchFamily="18" charset="0"/>
                <a:cs typeface="Times New Roman" panose="02020603050405020304" pitchFamily="18" charset="0"/>
              </a:rPr>
              <a:t> While we anticipated moderate student engagement, the introduction of the gamified "Departmental Flare" and the 1.1x point-multiplier system proved highly effective in incentivizing students to actively upload high-quality, original resources.</a:t>
            </a:r>
          </a:p>
          <a:p>
            <a:r>
              <a:rPr lang="en-IN" sz="2000" b="1" dirty="0">
                <a:latin typeface="Times New Roman" panose="02020603050405020304" pitchFamily="18" charset="0"/>
                <a:cs typeface="Times New Roman" panose="02020603050405020304" pitchFamily="18" charset="0"/>
              </a:rPr>
              <a:t>Technical Challenges </a:t>
            </a:r>
            <a:r>
              <a:rPr lang="en-IN" sz="2000" b="1" dirty="0" err="1">
                <a:latin typeface="Times New Roman" panose="02020603050405020304" pitchFamily="18" charset="0"/>
                <a:cs typeface="Times New Roman" panose="02020603050405020304" pitchFamily="18" charset="0"/>
              </a:rPr>
              <a:t>Analyzed</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The core React and Node.js architecture performed reliably during end-to-end testing. However, we observed that fine-tuning the AI semantic vector search to minimize false-positives during plagiarism checks required more iterative threshold testing than initially anticipated.</a:t>
            </a:r>
          </a:p>
          <a:p>
            <a:r>
              <a:rPr lang="en-IN" sz="2000" b="1" dirty="0">
                <a:latin typeface="Times New Roman" panose="02020603050405020304" pitchFamily="18" charset="0"/>
                <a:cs typeface="Times New Roman" panose="02020603050405020304" pitchFamily="18" charset="0"/>
              </a:rPr>
              <a:t>Overall Viability:</a:t>
            </a:r>
            <a:r>
              <a:rPr lang="en-IN" sz="2000" dirty="0">
                <a:latin typeface="Times New Roman" panose="02020603050405020304" pitchFamily="18" charset="0"/>
                <a:cs typeface="Times New Roman" panose="02020603050405020304" pitchFamily="18" charset="0"/>
              </a:rPr>
              <a:t> The project results confirm that combining modern cloud web development with AI-driven security successfully solves the core problem of academic dishonesty, resulting in a highly scalable, trustworthy, and collaborative academic ecosystem.</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9338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A3D5A92-DDF0-CF1E-4BA9-884F9B2E275F}"/>
              </a:ext>
            </a:extLst>
          </p:cNvPr>
          <p:cNvSpPr txBox="1"/>
          <p:nvPr/>
        </p:nvSpPr>
        <p:spPr>
          <a:xfrm>
            <a:off x="900953" y="699247"/>
            <a:ext cx="10174551" cy="5016758"/>
          </a:xfrm>
          <a:prstGeom prst="rect">
            <a:avLst/>
          </a:prstGeom>
          <a:noFill/>
        </p:spPr>
        <p:txBody>
          <a:bodyPr wrap="square">
            <a:spAutoFit/>
          </a:bodyPr>
          <a:lstStyle/>
          <a:p>
            <a:pPr marL="342900" indent="-342900">
              <a:buFont typeface="Arial" panose="020B0604020202020204" pitchFamily="34" charset="0"/>
              <a:buChar char="•"/>
            </a:pPr>
            <a:r>
              <a:rPr lang="en-IN" sz="2000" b="1" dirty="0" smtClean="0">
                <a:latin typeface="Times New Roman" panose="02020603050405020304" pitchFamily="18" charset="0"/>
                <a:cs typeface="Times New Roman" panose="02020603050405020304" pitchFamily="18" charset="0"/>
              </a:rPr>
              <a:t>Observations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AI engine successfully verifies </a:t>
            </a:r>
            <a:r>
              <a:rPr lang="en-IN" sz="2000" b="1" dirty="0">
                <a:latin typeface="Times New Roman" panose="02020603050405020304" pitchFamily="18" charset="0"/>
                <a:cs typeface="Times New Roman" panose="02020603050405020304" pitchFamily="18" charset="0"/>
              </a:rPr>
              <a:t>student identities and documents</a:t>
            </a:r>
            <a:r>
              <a:rPr lang="en-IN" sz="2000" dirty="0">
                <a:latin typeface="Times New Roman" panose="02020603050405020304" pitchFamily="18" charset="0"/>
                <a:cs typeface="Times New Roman" panose="02020603050405020304" pitchFamily="18" charset="0"/>
              </a:rPr>
              <a:t> in real-time.</a:t>
            </a:r>
          </a:p>
          <a:p>
            <a:r>
              <a:rPr lang="en-IN" sz="2000" dirty="0">
                <a:latin typeface="Times New Roman" panose="02020603050405020304" pitchFamily="18" charset="0"/>
                <a:cs typeface="Times New Roman" panose="02020603050405020304" pitchFamily="18" charset="0"/>
              </a:rPr>
              <a:t>The anti-plagiarism system triggers </a:t>
            </a:r>
            <a:r>
              <a:rPr lang="en-IN" sz="2000" b="1" dirty="0">
                <a:latin typeface="Times New Roman" panose="02020603050405020304" pitchFamily="18" charset="0"/>
                <a:cs typeface="Times New Roman" panose="02020603050405020304" pitchFamily="18" charset="0"/>
              </a:rPr>
              <a:t>immediate alerts</a:t>
            </a:r>
            <a:r>
              <a:rPr lang="en-IN" sz="2000" dirty="0">
                <a:latin typeface="Times New Roman" panose="02020603050405020304" pitchFamily="18" charset="0"/>
                <a:cs typeface="Times New Roman" panose="02020603050405020304" pitchFamily="18" charset="0"/>
              </a:rPr>
              <a:t> when duplicate or highly similar notes are uploaded.</a:t>
            </a:r>
          </a:p>
          <a:p>
            <a:r>
              <a:rPr lang="en-IN" sz="2000" dirty="0">
                <a:latin typeface="Times New Roman" panose="02020603050405020304" pitchFamily="18" charset="0"/>
                <a:cs typeface="Times New Roman" panose="02020603050405020304" pitchFamily="18" charset="0"/>
              </a:rPr>
              <a:t>The gamification engine updates </a:t>
            </a:r>
            <a:r>
              <a:rPr lang="en-IN" sz="2000" b="1" dirty="0">
                <a:latin typeface="Times New Roman" panose="02020603050405020304" pitchFamily="18" charset="0"/>
                <a:cs typeface="Times New Roman" panose="02020603050405020304" pitchFamily="18" charset="0"/>
              </a:rPr>
              <a:t>departmental </a:t>
            </a:r>
            <a:r>
              <a:rPr lang="en-IN" sz="2000" b="1" dirty="0" err="1">
                <a:latin typeface="Times New Roman" panose="02020603050405020304" pitchFamily="18" charset="0"/>
                <a:cs typeface="Times New Roman" panose="02020603050405020304" pitchFamily="18" charset="0"/>
              </a:rPr>
              <a:t>leaderboards</a:t>
            </a:r>
            <a:r>
              <a:rPr lang="en-IN" sz="2000" b="1" dirty="0">
                <a:latin typeface="Times New Roman" panose="02020603050405020304" pitchFamily="18" charset="0"/>
                <a:cs typeface="Times New Roman" panose="02020603050405020304" pitchFamily="18" charset="0"/>
              </a:rPr>
              <a:t> and point multipliers</a:t>
            </a:r>
            <a:r>
              <a:rPr lang="en-IN" sz="2000" dirty="0">
                <a:latin typeface="Times New Roman" panose="02020603050405020304" pitchFamily="18" charset="0"/>
                <a:cs typeface="Times New Roman" panose="02020603050405020304" pitchFamily="18" charset="0"/>
              </a:rPr>
              <a:t> automatically and accurately.</a:t>
            </a:r>
          </a:p>
          <a:p>
            <a:r>
              <a:rPr lang="en-IN" sz="2000" dirty="0">
                <a:latin typeface="Times New Roman" panose="02020603050405020304" pitchFamily="18" charset="0"/>
                <a:cs typeface="Times New Roman" panose="02020603050405020304" pitchFamily="18" charset="0"/>
              </a:rPr>
              <a:t>Academic materials are stored and retrieved </a:t>
            </a:r>
            <a:r>
              <a:rPr lang="en-IN" sz="2000" b="1" dirty="0">
                <a:latin typeface="Times New Roman" panose="02020603050405020304" pitchFamily="18" charset="0"/>
                <a:cs typeface="Times New Roman" panose="02020603050405020304" pitchFamily="18" charset="0"/>
              </a:rPr>
              <a:t>seamlessly</a:t>
            </a:r>
            <a:r>
              <a:rPr lang="en-IN" sz="2000" dirty="0">
                <a:latin typeface="Times New Roman" panose="02020603050405020304" pitchFamily="18" charset="0"/>
                <a:cs typeface="Times New Roman" panose="02020603050405020304" pitchFamily="18" charset="0"/>
              </a:rPr>
              <a:t> from the database using AI semantic search</a:t>
            </a:r>
            <a:r>
              <a:rPr lang="en-IN" sz="2000" dirty="0" smtClean="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1" dirty="0" smtClean="0">
                <a:latin typeface="Times New Roman" panose="02020603050405020304" pitchFamily="18" charset="0"/>
                <a:cs typeface="Times New Roman" panose="02020603050405020304" pitchFamily="18" charset="0"/>
              </a:rPr>
              <a:t>Insights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Greatly reduced </a:t>
            </a:r>
            <a:r>
              <a:rPr lang="en-IN" sz="2000" b="1" dirty="0">
                <a:latin typeface="Times New Roman" panose="02020603050405020304" pitchFamily="18" charset="0"/>
                <a:cs typeface="Times New Roman" panose="02020603050405020304" pitchFamily="18" charset="0"/>
              </a:rPr>
              <a:t>academic dishonesty and duplicate content</a:t>
            </a:r>
            <a:r>
              <a:rPr lang="en-IN" sz="2000" dirty="0">
                <a:latin typeface="Times New Roman" panose="02020603050405020304" pitchFamily="18" charset="0"/>
                <a:cs typeface="Times New Roman" panose="02020603050405020304" pitchFamily="18" charset="0"/>
              </a:rPr>
              <a:t> across the platform.</a:t>
            </a:r>
          </a:p>
          <a:p>
            <a:r>
              <a:rPr lang="en-IN" sz="2000" dirty="0">
                <a:latin typeface="Times New Roman" panose="02020603050405020304" pitchFamily="18" charset="0"/>
                <a:cs typeface="Times New Roman" panose="02020603050405020304" pitchFamily="18" charset="0"/>
              </a:rPr>
              <a:t>Fosters a highly engaged student community through </a:t>
            </a:r>
            <a:r>
              <a:rPr lang="en-IN" sz="2000" b="1" dirty="0">
                <a:latin typeface="Times New Roman" panose="02020603050405020304" pitchFamily="18" charset="0"/>
                <a:cs typeface="Times New Roman" panose="02020603050405020304" pitchFamily="18" charset="0"/>
              </a:rPr>
              <a:t>competitive, gamified learning</a:t>
            </a:r>
            <a:r>
              <a:rPr lang="en-IN" sz="2000" dirty="0">
                <a:latin typeface="Times New Roman" panose="02020603050405020304" pitchFamily="18" charset="0"/>
                <a:cs typeface="Times New Roman" panose="02020603050405020304" pitchFamily="18" charset="0"/>
              </a:rPr>
              <a:t> (Departmental Flare).</a:t>
            </a:r>
          </a:p>
          <a:p>
            <a:r>
              <a:rPr lang="en-IN" sz="2000" dirty="0">
                <a:latin typeface="Times New Roman" panose="02020603050405020304" pitchFamily="18" charset="0"/>
                <a:cs typeface="Times New Roman" panose="02020603050405020304" pitchFamily="18" charset="0"/>
              </a:rPr>
              <a:t>Ensures highly efficient discovery of study materials through </a:t>
            </a:r>
            <a:r>
              <a:rPr lang="en-IN" sz="2000" b="1" dirty="0">
                <a:latin typeface="Times New Roman" panose="02020603050405020304" pitchFamily="18" charset="0"/>
                <a:cs typeface="Times New Roman" panose="02020603050405020304" pitchFamily="18" charset="0"/>
              </a:rPr>
              <a:t>advanced vector search capabilities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The system provides a </a:t>
            </a:r>
            <a:r>
              <a:rPr lang="en-IN" sz="2000" b="1" dirty="0">
                <a:latin typeface="Times New Roman" panose="02020603050405020304" pitchFamily="18" charset="0"/>
                <a:cs typeface="Times New Roman" panose="02020603050405020304" pitchFamily="18" charset="0"/>
              </a:rPr>
              <a:t>secure, reliable, and user-friendly</a:t>
            </a:r>
            <a:r>
              <a:rPr lang="en-IN" sz="2000" dirty="0">
                <a:latin typeface="Times New Roman" panose="02020603050405020304" pitchFamily="18" charset="0"/>
                <a:cs typeface="Times New Roman" panose="02020603050405020304" pitchFamily="18" charset="0"/>
              </a:rPr>
              <a:t> interface for academic collaboration.</a:t>
            </a:r>
          </a:p>
        </p:txBody>
      </p:sp>
    </p:spTree>
    <p:extLst>
      <p:ext uri="{BB962C8B-B14F-4D97-AF65-F5344CB8AC3E}">
        <p14:creationId xmlns:p14="http://schemas.microsoft.com/office/powerpoint/2010/main" val="327588757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F8D42CA-99A3-A477-1AD3-27B959D30D1B}"/>
              </a:ext>
            </a:extLst>
          </p:cNvPr>
          <p:cNvSpPr txBox="1"/>
          <p:nvPr/>
        </p:nvSpPr>
        <p:spPr>
          <a:xfrm>
            <a:off x="1186070" y="1426558"/>
            <a:ext cx="5429884" cy="4401205"/>
          </a:xfrm>
          <a:prstGeom prst="rect">
            <a:avLst/>
          </a:prstGeom>
          <a:noFill/>
        </p:spPr>
        <p:txBody>
          <a:bodyPr wrap="square">
            <a:spAutoFit/>
          </a:bodyPr>
          <a:lstStyle/>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Plagiarism Prevention :</a:t>
            </a:r>
            <a:r>
              <a:rPr lang="en-IN" sz="2000" dirty="0">
                <a:latin typeface="Times New Roman" panose="02020603050405020304" pitchFamily="18" charset="0"/>
                <a:cs typeface="Times New Roman" panose="02020603050405020304" pitchFamily="18" charset="0"/>
              </a:rPr>
              <a:t> Continuous structural (</a:t>
            </a:r>
            <a:r>
              <a:rPr lang="en-IN" sz="2000" dirty="0" err="1">
                <a:latin typeface="Times New Roman" panose="02020603050405020304" pitchFamily="18" charset="0"/>
                <a:cs typeface="Times New Roman" panose="02020603050405020304" pitchFamily="18" charset="0"/>
              </a:rPr>
              <a:t>SimCheck</a:t>
            </a:r>
            <a:r>
              <a:rPr lang="en-IN" sz="2000" dirty="0">
                <a:latin typeface="Times New Roman" panose="02020603050405020304" pitchFamily="18" charset="0"/>
                <a:cs typeface="Times New Roman" panose="02020603050405020304" pitchFamily="18" charset="0"/>
              </a:rPr>
              <a:t>) and semantic checks ensure all uploaded study materials are 100% original.</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Automated Identity Verification :</a:t>
            </a:r>
            <a:r>
              <a:rPr lang="en-IN" sz="2000" dirty="0">
                <a:latin typeface="Times New Roman" panose="02020603050405020304" pitchFamily="18" charset="0"/>
                <a:cs typeface="Times New Roman" panose="02020603050405020304" pitchFamily="18" charset="0"/>
              </a:rPr>
              <a:t> The AI engine automatically processes ID cards and </a:t>
            </a:r>
            <a:r>
              <a:rPr lang="en-IN" sz="2000" dirty="0" err="1">
                <a:latin typeface="Times New Roman" panose="02020603050405020304" pitchFamily="18" charset="0"/>
                <a:cs typeface="Times New Roman" panose="02020603050405020304" pitchFamily="18" charset="0"/>
              </a:rPr>
              <a:t>Bonafide</a:t>
            </a:r>
            <a:r>
              <a:rPr lang="en-IN" sz="2000" dirty="0">
                <a:latin typeface="Times New Roman" panose="02020603050405020304" pitchFamily="18" charset="0"/>
                <a:cs typeface="Times New Roman" panose="02020603050405020304" pitchFamily="18" charset="0"/>
              </a:rPr>
              <a:t> documents, securely verifying students without manual review.</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Enhanced Collaboration :</a:t>
            </a:r>
            <a:r>
              <a:rPr lang="en-IN" sz="2000" dirty="0">
                <a:latin typeface="Times New Roman" panose="02020603050405020304" pitchFamily="18" charset="0"/>
                <a:cs typeface="Times New Roman" panose="02020603050405020304" pitchFamily="18" charset="0"/>
              </a:rPr>
              <a:t> Provides dedicated study groups, help requests, and broadcasting channels for seamless peer-to-peer learning.</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Student Empowerment :</a:t>
            </a:r>
            <a:r>
              <a:rPr lang="en-IN" sz="2000" dirty="0">
                <a:latin typeface="Times New Roman" panose="02020603050405020304" pitchFamily="18" charset="0"/>
                <a:cs typeface="Times New Roman" panose="02020603050405020304" pitchFamily="18" charset="0"/>
              </a:rPr>
              <a:t> Gamified </a:t>
            </a:r>
            <a:r>
              <a:rPr lang="en-IN" sz="2000" dirty="0" err="1">
                <a:latin typeface="Times New Roman" panose="02020603050405020304" pitchFamily="18" charset="0"/>
                <a:cs typeface="Times New Roman" panose="02020603050405020304" pitchFamily="18" charset="0"/>
              </a:rPr>
              <a:t>leaderboards</a:t>
            </a:r>
            <a:r>
              <a:rPr lang="en-IN" sz="2000" dirty="0">
                <a:latin typeface="Times New Roman" panose="02020603050405020304" pitchFamily="18" charset="0"/>
                <a:cs typeface="Times New Roman" panose="02020603050405020304" pitchFamily="18" charset="0"/>
              </a:rPr>
              <a:t>, point systems, and the "Departmental Flare" motivate students to actively contribute high-quality resources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0E9BD524-9EC6-049B-89F1-78EE695A01EB}"/>
              </a:ext>
            </a:extLst>
          </p:cNvPr>
          <p:cNvSpPr txBox="1"/>
          <p:nvPr/>
        </p:nvSpPr>
        <p:spPr>
          <a:xfrm>
            <a:off x="1186069" y="426762"/>
            <a:ext cx="6097656" cy="707886"/>
          </a:xfrm>
          <a:prstGeom prst="rect">
            <a:avLst/>
          </a:prstGeom>
          <a:noFill/>
        </p:spPr>
        <p:txBody>
          <a:bodyPr wrap="square">
            <a:spAutoFit/>
          </a:bodyPr>
          <a:lstStyle/>
          <a:p>
            <a:pPr marL="0" algn="l" rtl="0" eaLnBrk="1" latinLnBrk="0" hangingPunct="1">
              <a:buNone/>
            </a:pPr>
            <a:r>
              <a:rPr lang="en-US" sz="4000" kern="1200" dirty="0">
                <a:latin typeface="Times New Roman" panose="02020603050405020304" pitchFamily="18" charset="0"/>
                <a:cs typeface="Times New Roman" panose="02020603050405020304" pitchFamily="18" charset="0"/>
              </a:rPr>
              <a:t> Advantages</a:t>
            </a:r>
            <a:endParaRPr lang="en-IN" sz="40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6952129" y="1426558"/>
            <a:ext cx="4760259" cy="3970318"/>
          </a:xfrm>
          <a:prstGeom prst="rect">
            <a:avLst/>
          </a:prstGeom>
          <a:noFill/>
        </p:spPr>
        <p:txBody>
          <a:bodyPr wrap="square" rtlCol="0">
            <a:spAutoFit/>
          </a:bodyPr>
          <a:lstStyle/>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Time-Effective :</a:t>
            </a:r>
            <a:r>
              <a:rPr lang="en-IN" dirty="0">
                <a:latin typeface="Times New Roman" panose="02020603050405020304" pitchFamily="18" charset="0"/>
                <a:cs typeface="Times New Roman" panose="02020603050405020304" pitchFamily="18" charset="0"/>
              </a:rPr>
              <a:t> AI-powered semantic vector search allows students to instantly find the exact study material they need.</a:t>
            </a: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Centralized Access :</a:t>
            </a:r>
            <a:r>
              <a:rPr lang="en-IN" dirty="0">
                <a:latin typeface="Times New Roman" panose="02020603050405020304" pitchFamily="18" charset="0"/>
                <a:cs typeface="Times New Roman" panose="02020603050405020304" pitchFamily="18" charset="0"/>
              </a:rPr>
              <a:t> Students can access, upload, and organize their academic notes anytime from anywhere via the web platform.</a:t>
            </a: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 Assistance :</a:t>
            </a:r>
            <a:r>
              <a:rPr lang="en-IN" dirty="0">
                <a:latin typeface="Times New Roman" panose="02020603050405020304" pitchFamily="18" charset="0"/>
                <a:cs typeface="Times New Roman" panose="02020603050405020304" pitchFamily="18" charset="0"/>
              </a:rPr>
              <a:t> Intelligent algorithms provide backend guidance, verify documents, and enforce academic integrity automatically.</a:t>
            </a: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Scalable &amp; Flexible :</a:t>
            </a:r>
            <a:r>
              <a:rPr lang="en-IN" dirty="0">
                <a:latin typeface="Times New Roman" panose="02020603050405020304" pitchFamily="18" charset="0"/>
                <a:cs typeface="Times New Roman" panose="02020603050405020304" pitchFamily="18" charset="0"/>
              </a:rPr>
              <a:t> The database and platform architecture can easily scale to support additional university departments and increasing student user bases in the future.</a:t>
            </a:r>
          </a:p>
          <a:p>
            <a:endParaRPr lang="en-US" dirty="0"/>
          </a:p>
        </p:txBody>
      </p:sp>
    </p:spTree>
    <p:extLst>
      <p:ext uri="{BB962C8B-B14F-4D97-AF65-F5344CB8AC3E}">
        <p14:creationId xmlns:p14="http://schemas.microsoft.com/office/powerpoint/2010/main" val="1688561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E5DB5BD-3239-990D-7E2F-752034F4350E}"/>
              </a:ext>
            </a:extLst>
          </p:cNvPr>
          <p:cNvSpPr txBox="1"/>
          <p:nvPr/>
        </p:nvSpPr>
        <p:spPr>
          <a:xfrm>
            <a:off x="1379053" y="555506"/>
            <a:ext cx="6097656" cy="707886"/>
          </a:xfrm>
          <a:prstGeom prst="rect">
            <a:avLst/>
          </a:prstGeom>
          <a:noFill/>
        </p:spPr>
        <p:txBody>
          <a:bodyPr wrap="square">
            <a:spAutoFit/>
          </a:bodyPr>
          <a:lstStyle/>
          <a:p>
            <a:pPr>
              <a:buNone/>
            </a:pPr>
            <a:r>
              <a:rPr lang="en-US" sz="4000" dirty="0">
                <a:latin typeface="Times New Roman" panose="02020603050405020304" pitchFamily="18" charset="0"/>
                <a:cs typeface="Times New Roman" panose="02020603050405020304" pitchFamily="18" charset="0"/>
              </a:rPr>
              <a:t>Limitations</a:t>
            </a:r>
          </a:p>
        </p:txBody>
      </p:sp>
      <p:sp>
        <p:nvSpPr>
          <p:cNvPr id="7" name="TextBox 6">
            <a:extLst>
              <a:ext uri="{FF2B5EF4-FFF2-40B4-BE49-F238E27FC236}">
                <a16:creationId xmlns:a16="http://schemas.microsoft.com/office/drawing/2014/main" xmlns="" id="{D8DEA87F-867E-C9CD-8394-C403CF89F599}"/>
              </a:ext>
            </a:extLst>
          </p:cNvPr>
          <p:cNvSpPr txBox="1"/>
          <p:nvPr/>
        </p:nvSpPr>
        <p:spPr>
          <a:xfrm>
            <a:off x="1379053" y="1658543"/>
            <a:ext cx="8987460" cy="4401205"/>
          </a:xfrm>
          <a:prstGeom prst="rect">
            <a:avLst/>
          </a:prstGeom>
          <a:noFill/>
        </p:spPr>
        <p:txBody>
          <a:bodyPr wrap="square">
            <a:spAutoFit/>
          </a:bodyPr>
          <a:lstStyle/>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Ensuring high accuracy of AI models (Identity Verification and Semantic Search) to avoid false positives or negatives.</a:t>
            </a:r>
          </a:p>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Maintaining fast platform response times and stable availability during peak traffic periods (e.g., exam seasons).</a:t>
            </a:r>
          </a:p>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Handling large volumes of uploaded academic documents and efficiently processing their vector </a:t>
            </a:r>
            <a:r>
              <a:rPr lang="en-IN" sz="2000" dirty="0" err="1">
                <a:latin typeface="Times New Roman" panose="02020603050405020304" pitchFamily="18" charset="0"/>
                <a:cs typeface="Times New Roman" panose="02020603050405020304" pitchFamily="18" charset="0"/>
              </a:rPr>
              <a:t>embeddings</a:t>
            </a:r>
            <a:r>
              <a:rPr lang="en-IN" sz="2000" dirty="0">
                <a:latin typeface="Times New Roman" panose="02020603050405020304" pitchFamily="18" charset="0"/>
                <a:cs typeface="Times New Roman" panose="02020603050405020304" pitchFamily="18" charset="0"/>
              </a:rPr>
              <a:t> in the backend.</a:t>
            </a:r>
          </a:p>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Designing a perfectly balanced anti-plagiarism system that accurately flags duplicates without unfairly penalizing original student work.</a:t>
            </a:r>
          </a:p>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Seamlessly integrating external AI engines and APIs with the internal Node.js backend.</a:t>
            </a:r>
          </a:p>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Keeping cloud hosting and AI processing costs manageable as the database of notes grows.</a:t>
            </a:r>
          </a:p>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Ensuring the vector database and platform architecture can scale efficiently to support multiple universities and massive increases in student users.</a:t>
            </a:r>
          </a:p>
        </p:txBody>
      </p:sp>
    </p:spTree>
    <p:extLst>
      <p:ext uri="{BB962C8B-B14F-4D97-AF65-F5344CB8AC3E}">
        <p14:creationId xmlns:p14="http://schemas.microsoft.com/office/powerpoint/2010/main" val="34060489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7889"/>
            <a:ext cx="10515600" cy="1325563"/>
          </a:xfrm>
        </p:spPr>
        <p:txBody>
          <a:bodyPr>
            <a:normAutofit/>
          </a:bodyPr>
          <a:lstStyle/>
          <a:p>
            <a:r>
              <a:rPr lang="en-IN" sz="4000" dirty="0" smtClean="0">
                <a:latin typeface="Times New Roman" panose="02020603050405020304" pitchFamily="18" charset="0"/>
                <a:cs typeface="Times New Roman" panose="02020603050405020304" pitchFamily="18" charset="0"/>
              </a:rPr>
              <a:t>Future Scope</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r>
              <a:rPr lang="en-IN" b="1" dirty="0">
                <a:latin typeface="Times New Roman" panose="02020603050405020304" pitchFamily="18" charset="0"/>
                <a:cs typeface="Times New Roman" panose="02020603050405020304" pitchFamily="18" charset="0"/>
              </a:rPr>
              <a:t>Multi-University Expansion:</a:t>
            </a:r>
            <a:r>
              <a:rPr lang="en-IN" dirty="0">
                <a:latin typeface="Times New Roman" panose="02020603050405020304" pitchFamily="18" charset="0"/>
                <a:cs typeface="Times New Roman" panose="02020603050405020304" pitchFamily="18" charset="0"/>
              </a:rPr>
              <a:t> Scaling the platform's architecture to support students from different universities, enabling cross-institutional collaboration and resource sharing.</a:t>
            </a:r>
          </a:p>
          <a:p>
            <a:r>
              <a:rPr lang="en-IN" b="1" dirty="0">
                <a:latin typeface="Times New Roman" panose="02020603050405020304" pitchFamily="18" charset="0"/>
                <a:cs typeface="Times New Roman" panose="02020603050405020304" pitchFamily="18" charset="0"/>
              </a:rPr>
              <a:t>AI-Generated Study Tools:</a:t>
            </a:r>
            <a:r>
              <a:rPr lang="en-IN" dirty="0">
                <a:latin typeface="Times New Roman" panose="02020603050405020304" pitchFamily="18" charset="0"/>
                <a:cs typeface="Times New Roman" panose="02020603050405020304" pitchFamily="18" charset="0"/>
              </a:rPr>
              <a:t> Integrating Large Language Models (LLMs) to automatically generate flashcards, concise summaries, and practice quizzes directly from the students' uploaded notes.</a:t>
            </a:r>
          </a:p>
          <a:p>
            <a:r>
              <a:rPr lang="en-IN" b="1" dirty="0">
                <a:latin typeface="Times New Roman" panose="02020603050405020304" pitchFamily="18" charset="0"/>
                <a:cs typeface="Times New Roman" panose="02020603050405020304" pitchFamily="18" charset="0"/>
              </a:rPr>
              <a:t>Real-time Document Collaboration:</a:t>
            </a:r>
            <a:r>
              <a:rPr lang="en-IN" dirty="0">
                <a:latin typeface="Times New Roman" panose="02020603050405020304" pitchFamily="18" charset="0"/>
                <a:cs typeface="Times New Roman" panose="02020603050405020304" pitchFamily="18" charset="0"/>
              </a:rPr>
              <a:t> Upgrading the study groups feature to support live, Google Docs-style collaborative editing and real-time whiteboard sharing.</a:t>
            </a:r>
          </a:p>
          <a:p>
            <a:r>
              <a:rPr lang="en-IN" b="1" dirty="0">
                <a:latin typeface="Times New Roman" panose="02020603050405020304" pitchFamily="18" charset="0"/>
                <a:cs typeface="Times New Roman" panose="02020603050405020304" pitchFamily="18" charset="0"/>
              </a:rPr>
              <a:t>Dedicated Mobile Application:</a:t>
            </a:r>
            <a:r>
              <a:rPr lang="en-IN" dirty="0">
                <a:latin typeface="Times New Roman" panose="02020603050405020304" pitchFamily="18" charset="0"/>
                <a:cs typeface="Times New Roman" panose="02020603050405020304" pitchFamily="18" charset="0"/>
              </a:rPr>
              <a:t> Launching native iOS and Android applications with push notifications to alert students about new study materials, group messages, and </a:t>
            </a:r>
            <a:r>
              <a:rPr lang="en-IN" dirty="0" err="1">
                <a:latin typeface="Times New Roman" panose="02020603050405020304" pitchFamily="18" charset="0"/>
                <a:cs typeface="Times New Roman" panose="02020603050405020304" pitchFamily="18" charset="0"/>
              </a:rPr>
              <a:t>leaderboard</a:t>
            </a:r>
            <a:r>
              <a:rPr lang="en-IN" dirty="0">
                <a:latin typeface="Times New Roman" panose="02020603050405020304" pitchFamily="18" charset="0"/>
                <a:cs typeface="Times New Roman" panose="02020603050405020304" pitchFamily="18" charset="0"/>
              </a:rPr>
              <a:t> rank changes.</a:t>
            </a:r>
          </a:p>
          <a:p>
            <a:r>
              <a:rPr lang="en-IN" b="1" dirty="0">
                <a:latin typeface="Times New Roman" panose="02020603050405020304" pitchFamily="18" charset="0"/>
                <a:cs typeface="Times New Roman" panose="02020603050405020304" pitchFamily="18" charset="0"/>
              </a:rPr>
              <a:t>Advanced Learning Analytics:</a:t>
            </a:r>
            <a:r>
              <a:rPr lang="en-IN" dirty="0">
                <a:latin typeface="Times New Roman" panose="02020603050405020304" pitchFamily="18" charset="0"/>
                <a:cs typeface="Times New Roman" panose="02020603050405020304" pitchFamily="18" charset="0"/>
              </a:rPr>
              <a:t> Providing students and faculty with an analytics dashboard that tracks learning patterns, identifies the most challenging academic topics, and highlights the most effective study resources.</a:t>
            </a:r>
          </a:p>
          <a:p>
            <a:r>
              <a:rPr lang="en-IN" b="1" dirty="0">
                <a:latin typeface="Times New Roman" panose="02020603050405020304" pitchFamily="18" charset="0"/>
                <a:cs typeface="Times New Roman" panose="02020603050405020304" pitchFamily="18" charset="0"/>
              </a:rPr>
              <a:t>Creator Reward System:</a:t>
            </a:r>
            <a:r>
              <a:rPr lang="en-IN" dirty="0">
                <a:latin typeface="Times New Roman" panose="02020603050405020304" pitchFamily="18" charset="0"/>
                <a:cs typeface="Times New Roman" panose="02020603050405020304" pitchFamily="18" charset="0"/>
              </a:rPr>
              <a:t> Evolving the gamified point system into a tangible rewards program where top-contributing students can exchange platform points for academic perks, premium features, or institutional recognition.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85241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5EC88CA7-69E4-E724-7AC3-1D125651D01F}"/>
              </a:ext>
            </a:extLst>
          </p:cNvPr>
          <p:cNvSpPr txBox="1"/>
          <p:nvPr/>
        </p:nvSpPr>
        <p:spPr>
          <a:xfrm>
            <a:off x="1264340" y="2116117"/>
            <a:ext cx="9663320" cy="1883657"/>
          </a:xfrm>
          <a:prstGeom prst="rect">
            <a:avLst/>
          </a:prstGeom>
          <a:noFill/>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The AI-powered </a:t>
            </a:r>
            <a:r>
              <a:rPr lang="en-IN" sz="2000" dirty="0" err="1">
                <a:latin typeface="Times New Roman" panose="02020603050405020304" pitchFamily="18" charset="0"/>
                <a:cs typeface="Times New Roman" panose="02020603050405020304" pitchFamily="18" charset="0"/>
              </a:rPr>
              <a:t>NoteHub</a:t>
            </a:r>
            <a:r>
              <a:rPr lang="en-IN" sz="2000" dirty="0">
                <a:latin typeface="Times New Roman" panose="02020603050405020304" pitchFamily="18" charset="0"/>
                <a:cs typeface="Times New Roman" panose="02020603050405020304" pitchFamily="18" charset="0"/>
              </a:rPr>
              <a:t> platform elevates academic collaboration by combining secure identity verification with rigorous anti-plagiarism mechanisms. It ensures high-quality, original study materials, prevents academic dishonesty, and offers an engaging, gamified learning environment for students and university departments.</a:t>
            </a:r>
          </a:p>
        </p:txBody>
      </p:sp>
      <p:sp>
        <p:nvSpPr>
          <p:cNvPr id="7" name="TextBox 6">
            <a:extLst>
              <a:ext uri="{FF2B5EF4-FFF2-40B4-BE49-F238E27FC236}">
                <a16:creationId xmlns:a16="http://schemas.microsoft.com/office/drawing/2014/main" xmlns="" id="{B1D1FECF-04E4-F4D5-CE82-8BA962125131}"/>
              </a:ext>
            </a:extLst>
          </p:cNvPr>
          <p:cNvSpPr txBox="1"/>
          <p:nvPr/>
        </p:nvSpPr>
        <p:spPr>
          <a:xfrm>
            <a:off x="1264340" y="938456"/>
            <a:ext cx="6097656" cy="707886"/>
          </a:xfrm>
          <a:prstGeom prst="rect">
            <a:avLst/>
          </a:prstGeom>
          <a:noFill/>
        </p:spPr>
        <p:txBody>
          <a:bodyPr wrap="square">
            <a:spAutoFit/>
          </a:bodyPr>
          <a:lstStyle/>
          <a:p>
            <a:pPr marL="0" algn="l" rtl="0" eaLnBrk="1" latinLnBrk="0" hangingPunct="1">
              <a:buNone/>
            </a:pPr>
            <a:r>
              <a:rPr lang="en-US" sz="4000" kern="1200" dirty="0">
                <a:latin typeface="Times New Roman" panose="02020603050405020304" pitchFamily="18" charset="0"/>
                <a:cs typeface="Times New Roman" panose="02020603050405020304" pitchFamily="18" charset="0"/>
              </a:rPr>
              <a:t>Conclusion</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01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283549-845C-46F0-9834-834C14834146}"/>
              </a:ext>
            </a:extLst>
          </p:cNvPr>
          <p:cNvSpPr>
            <a:spLocks noGrp="1"/>
          </p:cNvSpPr>
          <p:nvPr>
            <p:ph type="title"/>
          </p:nvPr>
        </p:nvSpPr>
        <p:spPr>
          <a:xfrm>
            <a:off x="712635" y="133046"/>
            <a:ext cx="4230757" cy="956779"/>
          </a:xfrm>
        </p:spPr>
        <p:txBody>
          <a:bodyPr>
            <a:normAutofit/>
          </a:bodyPr>
          <a:lstStyle/>
          <a:p>
            <a:r>
              <a:rPr lang="en-US" sz="4000" dirty="0">
                <a:latin typeface="Times New Roman" panose="02020603050405020304" pitchFamily="18" charset="0"/>
                <a:cs typeface="Times New Roman" panose="02020603050405020304" pitchFamily="18" charset="0"/>
              </a:rPr>
              <a:t>References</a:t>
            </a:r>
            <a:endParaRPr lang="en-IN" sz="4000" dirty="0">
              <a:latin typeface="Times New Roman" panose="02020603050405020304" pitchFamily="18" charset="0"/>
              <a:cs typeface="Times New Roman" panose="02020603050405020304" pitchFamily="18" charset="0"/>
            </a:endParaRPr>
          </a:p>
        </p:txBody>
      </p:sp>
      <p:sp>
        <p:nvSpPr>
          <p:cNvPr id="9" name="Rectangle 5">
            <a:extLst>
              <a:ext uri="{FF2B5EF4-FFF2-40B4-BE49-F238E27FC236}">
                <a16:creationId xmlns:a16="http://schemas.microsoft.com/office/drawing/2014/main" xmlns="" id="{823AB6AA-4E92-4328-1678-0AE4A820720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xmlns="" id="{DB3C3700-5A5E-8E57-5693-02EDCDD96636}"/>
              </a:ext>
            </a:extLst>
          </p:cNvPr>
          <p:cNvSpPr>
            <a:spLocks noChangeArrowheads="1"/>
          </p:cNvSpPr>
          <p:nvPr/>
        </p:nvSpPr>
        <p:spPr bwMode="auto">
          <a:xfrm>
            <a:off x="712635" y="1222871"/>
            <a:ext cx="11065234"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03225" algn="l"/>
              </a:tabLst>
              <a:defRPr>
                <a:solidFill>
                  <a:schemeClr val="tx1"/>
                </a:solidFill>
                <a:latin typeface="Arial" panose="020B0604020202020204" pitchFamily="34" charset="0"/>
              </a:defRPr>
            </a:lvl1pPr>
            <a:lvl2pPr eaLnBrk="0" fontAlgn="base" hangingPunct="0">
              <a:spcBef>
                <a:spcPct val="0"/>
              </a:spcBef>
              <a:spcAft>
                <a:spcPct val="0"/>
              </a:spcAft>
              <a:tabLst>
                <a:tab pos="403225" algn="l"/>
              </a:tabLst>
              <a:defRPr>
                <a:solidFill>
                  <a:schemeClr val="tx1"/>
                </a:solidFill>
                <a:latin typeface="Arial" panose="020B0604020202020204" pitchFamily="34" charset="0"/>
              </a:defRPr>
            </a:lvl2pPr>
            <a:lvl3pPr eaLnBrk="0" fontAlgn="base" hangingPunct="0">
              <a:spcBef>
                <a:spcPct val="0"/>
              </a:spcBef>
              <a:spcAft>
                <a:spcPct val="0"/>
              </a:spcAft>
              <a:tabLst>
                <a:tab pos="403225" algn="l"/>
              </a:tabLst>
              <a:defRPr>
                <a:solidFill>
                  <a:schemeClr val="tx1"/>
                </a:solidFill>
                <a:latin typeface="Arial" panose="020B0604020202020204" pitchFamily="34" charset="0"/>
              </a:defRPr>
            </a:lvl3pPr>
            <a:lvl4pPr eaLnBrk="0" fontAlgn="base" hangingPunct="0">
              <a:spcBef>
                <a:spcPct val="0"/>
              </a:spcBef>
              <a:spcAft>
                <a:spcPct val="0"/>
              </a:spcAft>
              <a:tabLst>
                <a:tab pos="403225" algn="l"/>
              </a:tabLst>
              <a:defRPr>
                <a:solidFill>
                  <a:schemeClr val="tx1"/>
                </a:solidFill>
                <a:latin typeface="Arial" panose="020B0604020202020204" pitchFamily="34" charset="0"/>
              </a:defRPr>
            </a:lvl4pPr>
            <a:lvl5pPr eaLnBrk="0" fontAlgn="base" hangingPunct="0">
              <a:spcBef>
                <a:spcPct val="0"/>
              </a:spcBef>
              <a:spcAft>
                <a:spcPct val="0"/>
              </a:spcAft>
              <a:tabLst>
                <a:tab pos="403225" algn="l"/>
              </a:tabLst>
              <a:defRPr>
                <a:solidFill>
                  <a:schemeClr val="tx1"/>
                </a:solidFill>
                <a:latin typeface="Arial" panose="020B0604020202020204" pitchFamily="34" charset="0"/>
              </a:defRPr>
            </a:lvl5pPr>
            <a:lvl6pPr eaLnBrk="0" fontAlgn="base" hangingPunct="0">
              <a:spcBef>
                <a:spcPct val="0"/>
              </a:spcBef>
              <a:spcAft>
                <a:spcPct val="0"/>
              </a:spcAft>
              <a:tabLst>
                <a:tab pos="403225" algn="l"/>
              </a:tabLst>
              <a:defRPr>
                <a:solidFill>
                  <a:schemeClr val="tx1"/>
                </a:solidFill>
                <a:latin typeface="Arial" panose="020B0604020202020204" pitchFamily="34" charset="0"/>
              </a:defRPr>
            </a:lvl6pPr>
            <a:lvl7pPr eaLnBrk="0" fontAlgn="base" hangingPunct="0">
              <a:spcBef>
                <a:spcPct val="0"/>
              </a:spcBef>
              <a:spcAft>
                <a:spcPct val="0"/>
              </a:spcAft>
              <a:tabLst>
                <a:tab pos="403225" algn="l"/>
              </a:tabLst>
              <a:defRPr>
                <a:solidFill>
                  <a:schemeClr val="tx1"/>
                </a:solidFill>
                <a:latin typeface="Arial" panose="020B0604020202020204" pitchFamily="34" charset="0"/>
              </a:defRPr>
            </a:lvl7pPr>
            <a:lvl8pPr eaLnBrk="0" fontAlgn="base" hangingPunct="0">
              <a:spcBef>
                <a:spcPct val="0"/>
              </a:spcBef>
              <a:spcAft>
                <a:spcPct val="0"/>
              </a:spcAft>
              <a:tabLst>
                <a:tab pos="403225" algn="l"/>
              </a:tabLst>
              <a:defRPr>
                <a:solidFill>
                  <a:schemeClr val="tx1"/>
                </a:solidFill>
                <a:latin typeface="Arial" panose="020B0604020202020204" pitchFamily="34" charset="0"/>
              </a:defRPr>
            </a:lvl8pPr>
            <a:lvl9pPr eaLnBrk="0" fontAlgn="base" hangingPunct="0">
              <a:spcBef>
                <a:spcPct val="0"/>
              </a:spcBef>
              <a:spcAft>
                <a:spcPct val="0"/>
              </a:spcAft>
              <a:tabLst>
                <a:tab pos="403225" algn="l"/>
              </a:tabLst>
              <a:defRPr>
                <a:solidFill>
                  <a:schemeClr val="tx1"/>
                </a:solidFill>
                <a:latin typeface="Arial" panose="020B0604020202020204" pitchFamily="34" charset="0"/>
              </a:defRPr>
            </a:lvl9pPr>
          </a:lstStyle>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J. Smith and A. Doe, "</a:t>
            </a:r>
            <a:r>
              <a:rPr lang="en-IN" sz="1600" i="1" dirty="0">
                <a:latin typeface="Times New Roman" panose="02020603050405020304" pitchFamily="18" charset="0"/>
                <a:cs typeface="Times New Roman" panose="02020603050405020304" pitchFamily="18" charset="0"/>
              </a:rPr>
              <a:t>Advanced Plagiarism Detection Using Text Shingling and Vector </a:t>
            </a:r>
            <a:r>
              <a:rPr lang="en-IN" sz="1600" i="1" dirty="0" err="1">
                <a:latin typeface="Times New Roman" panose="02020603050405020304" pitchFamily="18" charset="0"/>
                <a:cs typeface="Times New Roman" panose="02020603050405020304" pitchFamily="18" charset="0"/>
              </a:rPr>
              <a:t>Embeddings</a:t>
            </a:r>
            <a:r>
              <a:rPr lang="en-IN" sz="1600" i="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Int. J. of Educational Technology, vol. 45, no. 3, 2022.</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R. Kumar and M. Singh, "</a:t>
            </a:r>
            <a:r>
              <a:rPr lang="en-IN" sz="1600" i="1" dirty="0">
                <a:latin typeface="Times New Roman" panose="02020603050405020304" pitchFamily="18" charset="0"/>
                <a:cs typeface="Times New Roman" panose="02020603050405020304" pitchFamily="18" charset="0"/>
              </a:rPr>
              <a:t>Gamification in E-Learning: The Impact of </a:t>
            </a:r>
            <a:r>
              <a:rPr lang="en-IN" sz="1600" i="1" dirty="0" err="1">
                <a:latin typeface="Times New Roman" panose="02020603050405020304" pitchFamily="18" charset="0"/>
                <a:cs typeface="Times New Roman" panose="02020603050405020304" pitchFamily="18" charset="0"/>
              </a:rPr>
              <a:t>Leaderboards</a:t>
            </a:r>
            <a:r>
              <a:rPr lang="en-IN" sz="1600" i="1" dirty="0">
                <a:latin typeface="Times New Roman" panose="02020603050405020304" pitchFamily="18" charset="0"/>
                <a:cs typeface="Times New Roman" panose="02020603050405020304" pitchFamily="18" charset="0"/>
              </a:rPr>
              <a:t> and Reward Multipliers on Student Engagement,</a:t>
            </a:r>
            <a:r>
              <a:rPr lang="en-IN" sz="1600" dirty="0">
                <a:latin typeface="Times New Roman" panose="02020603050405020304" pitchFamily="18" charset="0"/>
                <a:cs typeface="Times New Roman" panose="02020603050405020304" pitchFamily="18" charset="0"/>
              </a:rPr>
              <a:t>" IEEE Trans. on Learning Technologies, vol. 14, no. 2, 2021.</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S. Lee and K. Patel, "</a:t>
            </a:r>
            <a:r>
              <a:rPr lang="en-IN" sz="1600" i="1" dirty="0">
                <a:latin typeface="Times New Roman" panose="02020603050405020304" pitchFamily="18" charset="0"/>
                <a:cs typeface="Times New Roman" panose="02020603050405020304" pitchFamily="18" charset="0"/>
              </a:rPr>
              <a:t>Implementation of Perceptual Hashing for Secure Identity Verification in Web Platforms,</a:t>
            </a:r>
            <a:r>
              <a:rPr lang="en-IN" sz="1600" dirty="0">
                <a:latin typeface="Times New Roman" panose="02020603050405020304" pitchFamily="18" charset="0"/>
                <a:cs typeface="Times New Roman" panose="02020603050405020304" pitchFamily="18" charset="0"/>
              </a:rPr>
              <a:t>" Int. Conf. on Cybersecurity and Privacy, 2023.</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A. Gupta and D. Sharma, "</a:t>
            </a:r>
            <a:r>
              <a:rPr lang="en-IN" sz="1600" i="1" dirty="0">
                <a:latin typeface="Times New Roman" panose="02020603050405020304" pitchFamily="18" charset="0"/>
                <a:cs typeface="Times New Roman" panose="02020603050405020304" pitchFamily="18" charset="0"/>
              </a:rPr>
              <a:t>Semantic Search Optimization Using High-Dimensional Vector Databases,</a:t>
            </a:r>
            <a:r>
              <a:rPr lang="en-IN" sz="1600" dirty="0">
                <a:latin typeface="Times New Roman" panose="02020603050405020304" pitchFamily="18" charset="0"/>
                <a:cs typeface="Times New Roman" panose="02020603050405020304" pitchFamily="18" charset="0"/>
              </a:rPr>
              <a:t>" J. of Computer Science and Data Analytics, vol. 12, no. 4, 2021.</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F. Li and W. Wang, "</a:t>
            </a:r>
            <a:r>
              <a:rPr lang="en-IN" sz="1600" i="1" dirty="0">
                <a:latin typeface="Times New Roman" panose="02020603050405020304" pitchFamily="18" charset="0"/>
                <a:cs typeface="Times New Roman" panose="02020603050405020304" pitchFamily="18" charset="0"/>
              </a:rPr>
              <a:t>Cloud-Based Architectures for Real-Time Collaborative Academic Environments,</a:t>
            </a:r>
            <a:r>
              <a:rPr lang="en-IN" sz="1600" dirty="0">
                <a:latin typeface="Times New Roman" panose="02020603050405020304" pitchFamily="18" charset="0"/>
                <a:cs typeface="Times New Roman" panose="02020603050405020304" pitchFamily="18" charset="0"/>
              </a:rPr>
              <a:t>" IEEE Access, vol. 9, 2020.</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M. Johnson, "</a:t>
            </a:r>
            <a:r>
              <a:rPr lang="en-IN" sz="1600" i="1" dirty="0">
                <a:latin typeface="Times New Roman" panose="02020603050405020304" pitchFamily="18" charset="0"/>
                <a:cs typeface="Times New Roman" panose="02020603050405020304" pitchFamily="18" charset="0"/>
              </a:rPr>
              <a:t>Applying Neural Guardrails and Prompt Engineering in Automated Document Verification,</a:t>
            </a:r>
            <a:r>
              <a:rPr lang="en-IN" sz="1600" dirty="0">
                <a:latin typeface="Times New Roman" panose="02020603050405020304" pitchFamily="18" charset="0"/>
                <a:cs typeface="Times New Roman" panose="02020603050405020304" pitchFamily="18" charset="0"/>
              </a:rPr>
              <a:t>" Int. J. of Artificial Intelligence, vol. 38, no. 1, 2022.</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P. Reddy and V. Kumar, "</a:t>
            </a:r>
            <a:r>
              <a:rPr lang="en-IN" sz="1600" i="1" dirty="0">
                <a:latin typeface="Times New Roman" panose="02020603050405020304" pitchFamily="18" charset="0"/>
                <a:cs typeface="Times New Roman" panose="02020603050405020304" pitchFamily="18" charset="0"/>
              </a:rPr>
              <a:t>Scalable Database Design for Peer-to-Peer Study Group Management Systems,</a:t>
            </a:r>
            <a:r>
              <a:rPr lang="en-IN" sz="1600" dirty="0">
                <a:latin typeface="Times New Roman" panose="02020603050405020304" pitchFamily="18" charset="0"/>
                <a:cs typeface="Times New Roman" panose="02020603050405020304" pitchFamily="18" charset="0"/>
              </a:rPr>
              <a:t>" Int. Conf. on Computing and Database Systems, 2021.</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T. Williams and H. Brown, "</a:t>
            </a:r>
            <a:r>
              <a:rPr lang="en-IN" sz="1600" i="1" dirty="0">
                <a:latin typeface="Times New Roman" panose="02020603050405020304" pitchFamily="18" charset="0"/>
                <a:cs typeface="Times New Roman" panose="02020603050405020304" pitchFamily="18" charset="0"/>
              </a:rPr>
              <a:t>Evaluating the Effectiveness of Cryptographic Image Hashing in Preventing Duplicate Accounts,</a:t>
            </a:r>
            <a:r>
              <a:rPr lang="en-IN" sz="1600" dirty="0">
                <a:latin typeface="Times New Roman" panose="02020603050405020304" pitchFamily="18" charset="0"/>
                <a:cs typeface="Times New Roman" panose="02020603050405020304" pitchFamily="18" charset="0"/>
              </a:rPr>
              <a:t>" J. of Information Security, vol. 18, no. 2, 2022.</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C. Davis, "</a:t>
            </a:r>
            <a:r>
              <a:rPr lang="en-IN" sz="1600" i="1" dirty="0">
                <a:latin typeface="Times New Roman" panose="02020603050405020304" pitchFamily="18" charset="0"/>
                <a:cs typeface="Times New Roman" panose="02020603050405020304" pitchFamily="18" charset="0"/>
              </a:rPr>
              <a:t>Building Secure Authentication Workflows with OAuth 2.0 in Modern Web Applications,</a:t>
            </a:r>
            <a:r>
              <a:rPr lang="en-IN" sz="1600" dirty="0">
                <a:latin typeface="Times New Roman" panose="02020603050405020304" pitchFamily="18" charset="0"/>
                <a:cs typeface="Times New Roman" panose="02020603050405020304" pitchFamily="18" charset="0"/>
              </a:rPr>
              <a:t>" Int. J. of Web Engineering, vol. 22, no. 5, 2020.</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K. Anderson and L. White, "</a:t>
            </a:r>
            <a:r>
              <a:rPr lang="en-IN" sz="1600" i="1" dirty="0">
                <a:latin typeface="Times New Roman" panose="02020603050405020304" pitchFamily="18" charset="0"/>
                <a:cs typeface="Times New Roman" panose="02020603050405020304" pitchFamily="18" charset="0"/>
              </a:rPr>
              <a:t>The Role of AI-Powered Semantic Matching in Educational Resource Discovery,</a:t>
            </a:r>
            <a:r>
              <a:rPr lang="en-IN" sz="1600" dirty="0">
                <a:latin typeface="Times New Roman" panose="02020603050405020304" pitchFamily="18" charset="0"/>
                <a:cs typeface="Times New Roman" panose="02020603050405020304" pitchFamily="18" charset="0"/>
              </a:rPr>
              <a:t>" IEEE Int. Conf. on Smart Education, 2023.</a:t>
            </a:r>
          </a:p>
        </p:txBody>
      </p:sp>
    </p:spTree>
    <p:extLst>
      <p:ext uri="{BB962C8B-B14F-4D97-AF65-F5344CB8AC3E}">
        <p14:creationId xmlns:p14="http://schemas.microsoft.com/office/powerpoint/2010/main" val="4643177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xmlns="" id="{722F3729-4074-BB41-F5A6-6CD3FFFE9455}"/>
              </a:ext>
            </a:extLst>
          </p:cNvPr>
          <p:cNvSpPr txBox="1"/>
          <p:nvPr/>
        </p:nvSpPr>
        <p:spPr>
          <a:xfrm>
            <a:off x="3829878" y="2313310"/>
            <a:ext cx="4532244" cy="1862048"/>
          </a:xfrm>
          <a:prstGeom prst="rect">
            <a:avLst/>
          </a:prstGeom>
          <a:noFill/>
        </p:spPr>
        <p:txBody>
          <a:bodyPr wrap="square" rtlCol="0">
            <a:spAutoFit/>
          </a:bodyPr>
          <a:lstStyle/>
          <a:p>
            <a:pPr algn="ctr"/>
            <a:r>
              <a:rPr lang="en-IN" sz="11500" dirty="0">
                <a:latin typeface="Times New Roman" panose="02020603050405020304" pitchFamily="18" charset="0"/>
                <a:cs typeface="Times New Roman" panose="02020603050405020304" pitchFamily="18" charset="0"/>
              </a:rPr>
              <a:t>Q&amp;A</a:t>
            </a:r>
          </a:p>
        </p:txBody>
      </p:sp>
    </p:spTree>
    <p:extLst>
      <p:ext uri="{BB962C8B-B14F-4D97-AF65-F5344CB8AC3E}">
        <p14:creationId xmlns:p14="http://schemas.microsoft.com/office/powerpoint/2010/main" val="1569042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2107</TotalTime>
  <Words>2422</Words>
  <Application>Microsoft Office PowerPoint</Application>
  <PresentationFormat>Widescreen</PresentationFormat>
  <Paragraphs>395</Paragraphs>
  <Slides>48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Light</vt:lpstr>
      <vt:lpstr>Courier New</vt:lpstr>
      <vt:lpstr>Times New Roman</vt:lpstr>
      <vt:lpstr>Wingdings</vt:lpstr>
      <vt:lpstr>Office Theme</vt:lpstr>
      <vt:lpstr>PowerPoint Presentation</vt:lpstr>
      <vt:lpstr>Introduction</vt:lpstr>
      <vt:lpstr>PowerPoint Presentation</vt:lpstr>
      <vt:lpstr>Problem Statement</vt:lpstr>
      <vt:lpstr>Objectives</vt:lpstr>
      <vt:lpstr>PowerPoint Presentation</vt:lpstr>
      <vt:lpstr>Project Scope  </vt:lpstr>
      <vt:lpstr>Significance</vt:lpstr>
      <vt:lpstr>Literature Review</vt:lpstr>
      <vt:lpstr>PowerPoint Presentation</vt:lpstr>
      <vt:lpstr> Literature Review – Research Gap</vt:lpstr>
      <vt:lpstr>PowerPoint Presentation</vt:lpstr>
      <vt:lpstr>PowerPoint Presentation</vt:lpstr>
      <vt:lpstr>PowerPoint Presentation</vt:lpstr>
      <vt:lpstr>PowerPoint Presentation</vt:lpstr>
      <vt:lpstr>Module 1: Note Management &amp; Plagiarism Detection</vt:lpstr>
      <vt:lpstr>Module 2: Real-Time Collaboration</vt:lpstr>
      <vt:lpstr>Module 3: AI Assessments &amp; Quizzes</vt:lpstr>
      <vt:lpstr>Module 4: Career AI Roadmaps</vt:lpstr>
      <vt:lpstr>Module 5: PYQ (Previous Year Questions) Analyzer </vt:lpstr>
      <vt:lpstr>Module 6: Gamification &amp; Departmental Flare</vt:lpstr>
      <vt:lpstr>Mathematical Model </vt:lpstr>
      <vt:lpstr>Database Design</vt:lpstr>
      <vt:lpstr>Data Flow</vt:lpstr>
      <vt:lpstr>UI Screenshots </vt:lpstr>
      <vt:lpstr>PowerPoint Presentation</vt:lpstr>
      <vt:lpstr>PowerPoint Presentation</vt:lpstr>
      <vt:lpstr>PowerPoint Presentation</vt:lpstr>
      <vt:lpstr>PowerPoint Presentation</vt:lpstr>
      <vt:lpstr>PowerPoint Presentation</vt:lpstr>
      <vt:lpstr>PowerPoint Presentation</vt:lpstr>
      <vt:lpstr>Test Cases</vt:lpstr>
      <vt:lpstr>PowerPoint Presentation</vt:lpstr>
      <vt:lpstr>PowerPoint Presentation</vt:lpstr>
      <vt:lpstr>User Interface</vt:lpstr>
      <vt:lpstr>Results</vt:lpstr>
      <vt:lpstr>PowerPoint Presentation</vt:lpstr>
      <vt:lpstr> </vt:lpstr>
      <vt:lpstr>PowerPoint Presentation</vt:lpstr>
      <vt:lpstr>Acknowledgement</vt:lpstr>
      <vt:lpstr>Discussion &amp; Analysis</vt:lpstr>
      <vt:lpstr>PowerPoint Presentation</vt:lpstr>
      <vt:lpstr>PowerPoint Presentation</vt:lpstr>
      <vt:lpstr>PowerPoint Presentation</vt:lpstr>
      <vt:lpstr>Future Scope</vt:lpstr>
      <vt:lpstr>PowerPoint Presentation</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Yash Thorat</dc:creator>
  <cp:lastModifiedBy>Microsoft account</cp:lastModifiedBy>
  <cp:revision>84</cp:revision>
  <dcterms:created xsi:type="dcterms:W3CDTF">2025-06-19T11:50:32Z</dcterms:created>
  <dcterms:modified xsi:type="dcterms:W3CDTF">2026-04-25T16:20:45Z</dcterms:modified>
</cp:coreProperties>
</file>